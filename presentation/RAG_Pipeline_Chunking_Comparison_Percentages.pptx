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e77473edfb40d1" /><Relationship Type="http://schemas.openxmlformats.org/officeDocument/2006/relationships/extended-properties" Target="/docProps/app.xml" Id="Rdf9e3b2c14184b9b" /><Relationship Type="http://schemas.openxmlformats.org/officeDocument/2006/relationships/officeDocument" Target="/ppt/presentation.xml" Id="R96a139241ee64cc4" /></Relationships>
</file>

<file path=ppt/presentation.xml><?xml version="1.0" encoding="utf-8"?>
<p:presentation xmlns:p="http://schemas.openxmlformats.org/presentationml/2006/main">
  <p:sldMasterIdLst>
    <p:sldMasterId xmlns:r="http://schemas.openxmlformats.org/officeDocument/2006/relationships" id="2147483648" r:id="R26b7fa9862474714"/>
  </p:sldMasterIdLst>
  <p:notesMasterIdLst>
    <p:notesMasterId xmlns:r="http://schemas.openxmlformats.org/officeDocument/2006/relationships" r:id="R726e1993b1b54663"/>
  </p:notesMasterIdLst>
  <p:sldIdLst>
    <p:sldId xmlns:r="http://schemas.openxmlformats.org/officeDocument/2006/relationships" id="256" r:id="R3d64c401313d4438"/>
    <p:sldId xmlns:r="http://schemas.openxmlformats.org/officeDocument/2006/relationships" id="257" r:id="Rb4de6767d70a410c"/>
    <p:sldId xmlns:r="http://schemas.openxmlformats.org/officeDocument/2006/relationships" id="258" r:id="Rf51a1d87994c4a8a"/>
    <p:sldId xmlns:r="http://schemas.openxmlformats.org/officeDocument/2006/relationships" id="259" r:id="R8879d63a74384e97"/>
    <p:sldId xmlns:r="http://schemas.openxmlformats.org/officeDocument/2006/relationships" id="260" r:id="R4e5a347345f64625"/>
    <p:sldId xmlns:r="http://schemas.openxmlformats.org/officeDocument/2006/relationships" id="261" r:id="R02cb48c03c2343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8b718c256d47ec" /><Relationship Type="http://schemas.openxmlformats.org/officeDocument/2006/relationships/slideMaster" Target="/ppt/slideMasters/slideMaster1.xml" Id="R26b7fa9862474714" /><Relationship Type="http://schemas.openxmlformats.org/officeDocument/2006/relationships/notesMaster" Target="/ppt/notesMasters/notesMaster1.xml" Id="R726e1993b1b54663" /><Relationship Type="http://schemas.openxmlformats.org/officeDocument/2006/relationships/presProps" Target="/ppt/presProps.xml" Id="R8c619130c8c24c19" /><Relationship Type="http://schemas.openxmlformats.org/officeDocument/2006/relationships/tableStyles" Target="/ppt/tableStyles.xml" Id="Rd1bdc64753844274" /><Relationship Type="http://schemas.openxmlformats.org/officeDocument/2006/relationships/slide" Target="/ppt/slides/slide1.xml" Id="R3d64c401313d4438" /><Relationship Type="http://schemas.openxmlformats.org/officeDocument/2006/relationships/slide" Target="/ppt/slides/slide2.xml" Id="Rb4de6767d70a410c" /><Relationship Type="http://schemas.openxmlformats.org/officeDocument/2006/relationships/slide" Target="/ppt/slides/slide3.xml" Id="Rf51a1d87994c4a8a" /><Relationship Type="http://schemas.openxmlformats.org/officeDocument/2006/relationships/slide" Target="/ppt/slides/slide4.xml" Id="R8879d63a74384e97" /><Relationship Type="http://schemas.openxmlformats.org/officeDocument/2006/relationships/slide" Target="/ppt/slides/slide5.xml" Id="R4e5a347345f64625" /><Relationship Type="http://schemas.openxmlformats.org/officeDocument/2006/relationships/slide" Target="/ppt/slides/slide6.xml" Id="R02cb48c03c2343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30d006030043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b18c0866c3437b" /><Relationship Type="http://schemas.openxmlformats.org/officeDocument/2006/relationships/notesMaster" Target="/ppt/notesMasters/notesMaster1.xml" Id="Rdb24e808ccc04a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0e80583f4d4b0a" /><Relationship Type="http://schemas.openxmlformats.org/officeDocument/2006/relationships/notesMaster" Target="/ppt/notesMasters/notesMaster1.xml" Id="Rb9509e56a7ab45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80f0ccd3154037" /><Relationship Type="http://schemas.openxmlformats.org/officeDocument/2006/relationships/notesMaster" Target="/ppt/notesMasters/notesMaster1.xml" Id="R927beb8b58fa4b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136efd0deb4254" /><Relationship Type="http://schemas.openxmlformats.org/officeDocument/2006/relationships/notesMaster" Target="/ppt/notesMasters/notesMaster1.xml" Id="Rfffd402e100a4e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3744bd25274509" /><Relationship Type="http://schemas.openxmlformats.org/officeDocument/2006/relationships/notesMaster" Target="/ppt/notesMasters/notesMaster1.xml" Id="R54cfe3c11b8241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3fc627e8f549cb" /><Relationship Type="http://schemas.openxmlformats.org/officeDocument/2006/relationships/notesMaster" Target="/ppt/notesMasters/notesMaster1.xml" Id="R7cc7ea01c5ed40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(35 seconds)</a:t>
            </a:r>
          </a:p>
          <a:p xmlns:a="http://schemas.openxmlformats.org/drawingml/2006/main">
            <a:r>
              <a:t>My project answers questions about the American Express 2025 annual report using retrieval augmented generation, or RAG. The idea is to find relevant passages first, then give those passages to a language model as evidence. Financial reports make this challenging because answers can sit inside tables, footnotes, or several different sections. My goal is to return a useful answer with a traceable source, and to identify where the retrieval step still needs improvement. I'll cover the pipeline, one saved example, and the evaluation results.</a:t>
            </a:r>
          </a:p>
          <a:p xmlns:a="http://schemas.openxmlformats.org/drawingml/2006/main">
            <a:r>
              <a:t/>
            </a:r>
          </a:p>
          <a:p xmlns:a="http://schemas.openxmlformats.org/drawingml/2006/main">
            <a:r>
              <a:t>Project sources: README.md;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 (55 seconds)</a:t>
            </a:r>
          </a:p>
          <a:p xmlns:a="http://schemas.openxmlformats.org/drawingml/2006/main">
            <a:r>
              <a:t>The architecture has four sections. Ingestion parses the annual-report PDF, creates report-aware chunks, embeds their text, and stores vectors with source metadata. Retrieval embeds the user question and combines semantic similarity with BM25-style lexical matching and a phrase boost. It selects five chunks. Follow the arrows into generation: the system builds an evidence context, asks the language model for an answer, checks cited chunk IDs, and saves the answer with its retrieval log. The separate evaluation path runs labeled questions through that same retriever, compares the ranked results with expected chunk IDs, and reports Recall at five, nDCG at five, and mean reciprocal rank. Evaluation measures retrieval quality offline. It is not a gate between retrieval and generation.</a:t>
            </a:r>
          </a:p>
          <a:p xmlns:a="http://schemas.openxmlformats.org/drawingml/2006/main">
            <a:r>
              <a:t/>
            </a:r>
          </a:p>
          <a:p xmlns:a="http://schemas.openxmlformats.org/drawingml/2006/main">
            <a:r>
              <a:t>Project sources: src/ingestion/load_financial_statements.py; src/ingestion/embed_documents.py; src/retrival/semanticSearch.py; src/evaluation/evaluate_search.py; src/generation/prompt.py;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1:30–2:20 (50 seconds)</a:t>
            </a:r>
          </a:p>
          <a:p xmlns:a="http://schemas.openxmlformats.org/drawingml/2006/main">
            <a:r>
              <a:t>The retriever combines semantic similarity with lexical matching. Semantic similarity helps when a question uses different wording from the report. BM25-style matching helps preserve exact financial terms and labels. The current ranking formula gives normalized semantic scores a weight of 0.4 and normalized lexical scores a weight of 0.6, then adds an exact-phrase boost. Those are implementation settings, not a claim that the weights are optimal. The retriever returns separate semantic, lexical, and hybrid scores, which makes failures easier to diagnose. For example, a passage can match the words CEO and shareholders while still failing to contain the CEO's message. That is why ranking quality matters even when an answer model can write fluently.</a:t>
            </a:r>
          </a:p>
          <a:p xmlns:a="http://schemas.openxmlformats.org/drawingml/2006/main">
            <a:r>
              <a:t/>
            </a:r>
          </a:p>
          <a:p xmlns:a="http://schemas.openxmlformats.org/drawingml/2006/main">
            <a:r>
              <a:t>Project sources: src/retrival/semanticSearch.py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(50 seconds)</a:t>
            </a:r>
          </a:p>
          <a:p xmlns:a="http://schemas.openxmlformats.org/drawingml/2006/main">
            <a:r>
              <a:t>Here is an actual saved run, rather than a hypothetical demo. The user asked what the major revenue generator was in 2025. The generated answer identified discount revenue at 37.4 billion dollars and cited chunk 127 on page 63. That supporting chunk appeared fourth in the retrieved results, so retaining several candidates mattered in this example. The generation prompt asks the model to answer only from the supplied evidence and to say when the context is insufficient. The code also checks whether cited chunk IDs belong to the retrieved evidence. That check helps catch invented IDs, but it does not establish that every claim is supported or that a page label is correct. Claim-level verification remains a useful next step.</a:t>
            </a:r>
          </a:p>
          <a:p xmlns:a="http://schemas.openxmlformats.org/drawingml/2006/main">
            <a:r>
              <a:t/>
            </a:r>
          </a:p>
          <a:p xmlns:a="http://schemas.openxmlformats.org/drawingml/2006/main">
            <a:r>
              <a:t>Project sources: resources/evaluations/results/app/rag_runs.jsonl, 2026-09-11 first record; src/generation/prompt.py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3:10–4:15 (65 seconds)</a:t>
            </a:r>
          </a:p>
          <a:p xmlns:a="http://schemas.openxmlformats.org/drawingml/2006/main">
            <a:r>
              <a:t>This slide compares the newly reported fixed-size chunking results with the saved context-aware development run. All scores are displayed as percentages, and rows are sorted by context-aware Recall at five in descending order. Each strategy has three columns: Recall at five, nDCG at five, and mean reciprocal rank. Fixed-size chunking reports zero Recall and nDCG at five across all four categories, with small positive MRR values. Under the evaluator's relevance labels, that means no relevant hits in the top five, with some matches farther down the ranked list. The context-aware run reports higher values across all categories. Its Recall at five is 40 percent for ambiguous questions, 80 percent for factual questions, 30 percent for multi-chunk questions, and 80 percent for keyword questions. These are reported results, not yet an isolated measurement of the chunking effect. Because the evaluator matches chunk IDs, a fair comparison requires remapping relevance labels to each chunking strategy and keeping the questions and retrieval settings consistent. Context-aware retrieval still has its largest evidence-coverage gaps on ambiguous and multi-chunk questions.</a:t>
            </a:r>
          </a:p>
          <a:p xmlns:a="http://schemas.openxmlformats.org/drawingml/2006/main">
            <a:r>
              <a:t/>
            </a:r>
          </a:p>
          <a:p xmlns:a="http://schemas.openxmlformats.org/drawingml/2006/main">
            <a:r>
              <a:t>Project sources: Fixed-size metrics supplied by the user on 2026-09-20; context-aware metrics: resources/evaluations/results/dev_v1.txt; evaluation implementation: src/evaluation/evaluate_search.py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(45 seconds)</a:t>
            </a:r>
          </a:p>
          <a:p xmlns:a="http://schemas.openxmlformats.org/drawingml/2006/main">
            <a:r>
              <a:t>The project now connects document ingestion, hybrid retrieval, and cited generation in an inspectable workflow. My next priority is improving the evidence that reaches the model. I would compare semantic-only, lexical-only, and hybrid baselines on the same labeled set, then test reranking and query reformulation on ambiguous questions. I would also audit section metadata, because some saved results carry broad or misleading section labels, and test ways to collect evidence across multiple chunks. Finally, I would evaluate whether each answer claim is supported, alongside retrieval metrics and abstention behavior. The main lesson from this project is that grounded generation depends on retrieving the right evidence, and the saved diagnostics make those weaknesses visible.</a:t>
            </a:r>
          </a:p>
          <a:p xmlns:a="http://schemas.openxmlformats.org/drawingml/2006/main">
            <a:r>
              <a:t/>
            </a:r>
          </a:p>
          <a:p xmlns:a="http://schemas.openxmlformats.org/drawingml/2006/main">
            <a:r>
              <a:t>Project sources: Proposed work based on src/retrival/semanticSearch.py; src/generation/prompt.py; saved evaluation and application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4aad398c8d4f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fdfa55a45343a5" /><Relationship Type="http://schemas.openxmlformats.org/officeDocument/2006/relationships/slideLayout" Target="/ppt/slideLayouts/slideLayout1.xml" Id="Rc54ff17f50e84d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4ff17f50e84d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f13278796343e5" /><Relationship Type="http://schemas.openxmlformats.org/officeDocument/2006/relationships/notesSlide" Target="/ppt/notesSlides/notesSlide1.xml" Id="Rb6b9f45ca3cc46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23e388d5d04c16" /><Relationship Type="http://schemas.openxmlformats.org/officeDocument/2006/relationships/notesSlide" Target="/ppt/notesSlides/notesSlide2.xml" Id="R09e9d9cf45b748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f49f92a6f14c7f" /><Relationship Type="http://schemas.openxmlformats.org/officeDocument/2006/relationships/notesSlide" Target="/ppt/notesSlides/notesSlide3.xml" Id="Rbc5e98fef8f341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ecfceb35434a1d" /><Relationship Type="http://schemas.openxmlformats.org/officeDocument/2006/relationships/notesSlide" Target="/ppt/notesSlides/notesSlide4.xml" Id="R28d21a5b680a47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e88d2300c14fdf" /><Relationship Type="http://schemas.openxmlformats.org/officeDocument/2006/relationships/notesSlide" Target="/ppt/notesSlides/notesSlide5.xml" Id="R59e9d49193b845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bf0c0b35054c6d" /><Relationship Type="http://schemas.openxmlformats.org/officeDocument/2006/relationships/notesSlide" Target="/ppt/notesSlides/notesSlide6.xml" Id="R078a3087ab114861" /></Relationships>
</file>

<file path=ppt/slides/slide1.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7182B8-AE76-4E4B-A8EA-BA134FBEB168}"/>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Financial Report RAG</a:t>
            </a:r>
          </a:p>
        </p:txBody>
      </p:sp>
      <p:sp>
        <p:nvSpPr>
          <p:cNvPr id="2" name="">
            <a:extLst xmlns:a="http://schemas.openxmlformats.org/drawingml/2006/main">
              <a:ext uri="{FF2B5EF4-FFF2-40B4-BE49-F238E27FC236}">
                <a16:creationId xmlns:a16="http://schemas.microsoft.com/office/drawing/2014/main" id="{21CD794C-F5D6-4C7E-8A33-6E6853BF3724}"/>
              </a:ext>
            </a:extLst>
          </p:cNvPr>
          <p:cNvSpPr>
            <a:spLocks xmlns:a="http://schemas.openxmlformats.org/drawingml/2006/main" noGrp="1"/>
          </p:cNvSpPr>
          <p:nvPr/>
        </p:nvSpPr>
        <p:spPr>
          <a:xfrm xmlns:a="http://schemas.openxmlformats.org/drawingml/2006/main">
            <a:off x="723900" y="2238375"/>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E1D3"/>
                </a:solidFill>
                <a:latin typeface="Helvetica Neue"/>
                <a:ea typeface="Helvetica Neue"/>
                <a:cs typeface="Helvetica Neue"/>
              </a:defRPr>
            </a:pPr>
            <a:r>
              <a:rPr sz="3000" b="0">
                <a:solidFill>
                  <a:srgbClr val="A8E1D3"/>
                </a:solidFill>
                <a:latin typeface="Helvetica Neue"/>
                <a:ea typeface="Helvetica Neue"/>
                <a:cs typeface="Helvetica Neue"/>
              </a:rPr>
              <a:t>Questions answered with report evidence</a:t>
            </a:r>
          </a:p>
        </p:txBody>
      </p:sp>
      <p:sp>
        <p:nvSpPr>
          <p:cNvPr id="3" name="">
            <a:extLst xmlns:a="http://schemas.openxmlformats.org/drawingml/2006/main">
              <a:ext uri="{FF2B5EF4-FFF2-40B4-BE49-F238E27FC236}">
                <a16:creationId xmlns:a16="http://schemas.microsoft.com/office/drawing/2014/main" id="{F3019853-6B36-4D22-B9DC-0B04725B4450}"/>
              </a:ext>
            </a:extLst>
          </p:cNvPr>
          <p:cNvSpPr>
            <a:spLocks xmlns:a="http://schemas.openxmlformats.org/drawingml/2006/main" noGrp="1"/>
          </p:cNvSpPr>
          <p:nvPr/>
        </p:nvSpPr>
        <p:spPr>
          <a:xfrm xmlns:a="http://schemas.openxmlformats.org/drawingml/2006/main">
            <a:off x="723900" y="366712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American Express 2025 annual report</a:t>
            </a:r>
          </a:p>
        </p:txBody>
      </p:sp>
      <p:sp>
        <p:nvSpPr>
          <p:cNvPr id="4" name="">
            <a:extLst xmlns:a="http://schemas.openxmlformats.org/drawingml/2006/main">
              <a:ext uri="{FF2B5EF4-FFF2-40B4-BE49-F238E27FC236}">
                <a16:creationId xmlns:a16="http://schemas.microsoft.com/office/drawing/2014/main" id="{B11B6A89-8B38-4475-9408-E761CEB555D2}"/>
              </a:ext>
            </a:extLst>
          </p:cNvPr>
          <p:cNvSpPr>
            <a:spLocks xmlns:a="http://schemas.openxmlformats.org/drawingml/2006/main" noGrp="1"/>
          </p:cNvSpPr>
          <p:nvPr/>
        </p:nvSpPr>
        <p:spPr>
          <a:xfrm xmlns:a="http://schemas.openxmlformats.org/drawingml/2006/main">
            <a:off x="723900" y="429577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Hybrid retrieval + cited generation</a:t>
            </a:r>
          </a:p>
        </p:txBody>
      </p:sp>
    </p:spTree>
    <p:extLst>
      <p:ext uri="{BB962C8B-B14F-4D97-AF65-F5344CB8AC3E}">
        <p14:creationId xmlns:p14="http://schemas.microsoft.com/office/powerpoint/2010/main" val="1170723541"/>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FF09262-EDBE-47A6-9A2D-66F5CC8F3931}"/>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The pipeline</a:t>
            </a:r>
          </a:p>
        </p:txBody>
      </p:sp>
      <p:sp>
        <p:nvSpPr>
          <p:cNvPr id="2" name="">
            <a:extLst xmlns:a="http://schemas.openxmlformats.org/drawingml/2006/main">
              <a:ext uri="{FF2B5EF4-FFF2-40B4-BE49-F238E27FC236}">
                <a16:creationId xmlns:a16="http://schemas.microsoft.com/office/drawing/2014/main" id="{62459C05-F3C0-470C-A9E9-66C15474E9C0}"/>
              </a:ext>
            </a:extLst>
          </p:cNvPr>
          <p:cNvSpPr>
            <a:spLocks xmlns:a="http://schemas.openxmlformats.org/drawingml/2006/main" noGrp="1"/>
          </p:cNvSpPr>
          <p:nvPr/>
        </p:nvSpPr>
        <p:spPr>
          <a:xfrm xmlns:a="http://schemas.openxmlformats.org/drawingml/2006/main">
            <a:off x="685800" y="16764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Ingestion</a:t>
            </a:r>
          </a:p>
        </p:txBody>
      </p:sp>
      <p:sp>
        <p:nvSpPr>
          <p:cNvPr id="3" name="">
            <a:extLst xmlns:a="http://schemas.openxmlformats.org/drawingml/2006/main">
              <a:ext uri="{FF2B5EF4-FFF2-40B4-BE49-F238E27FC236}">
                <a16:creationId xmlns:a16="http://schemas.microsoft.com/office/drawing/2014/main" id="{E8BC60FC-BD99-42F6-9A98-89121F22F88F}"/>
              </a:ext>
            </a:extLst>
          </p:cNvPr>
          <p:cNvSpPr>
            <a:spLocks xmlns:a="http://schemas.openxmlformats.org/drawingml/2006/main" noGrp="1"/>
          </p:cNvSpPr>
          <p:nvPr/>
        </p:nvSpPr>
        <p:spPr>
          <a:xfrm xmlns:a="http://schemas.openxmlformats.org/drawingml/2006/main">
            <a:off x="26479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Parse report PDF</a:t>
            </a:r>
          </a:p>
        </p:txBody>
      </p:sp>
      <p:sp>
        <p:nvSpPr>
          <p:cNvPr id="4" name="">
            <a:extLst xmlns:a="http://schemas.openxmlformats.org/drawingml/2006/main">
              <a:ext uri="{FF2B5EF4-FFF2-40B4-BE49-F238E27FC236}">
                <a16:creationId xmlns:a16="http://schemas.microsoft.com/office/drawing/2014/main" id="{34A84E6E-657B-47F5-8E82-A970D71633FA}"/>
              </a:ext>
            </a:extLst>
          </p:cNvPr>
          <p:cNvSpPr>
            <a:spLocks xmlns:a="http://schemas.openxmlformats.org/drawingml/2006/main" noGrp="1"/>
          </p:cNvSpPr>
          <p:nvPr/>
        </p:nvSpPr>
        <p:spPr>
          <a:xfrm xmlns:a="http://schemas.openxmlformats.org/drawingml/2006/main">
            <a:off x="48577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Chunk + metadata</a:t>
            </a:r>
          </a:p>
        </p:txBody>
      </p:sp>
      <p:sp>
        <p:nvSpPr>
          <p:cNvPr id="5" name="">
            <a:extLst xmlns:a="http://schemas.openxmlformats.org/drawingml/2006/main">
              <a:ext uri="{FF2B5EF4-FFF2-40B4-BE49-F238E27FC236}">
                <a16:creationId xmlns:a16="http://schemas.microsoft.com/office/drawing/2014/main" id="{28974BCC-445E-4C3A-B600-213AFAA89160}"/>
              </a:ext>
            </a:extLst>
          </p:cNvPr>
          <p:cNvSpPr>
            <a:spLocks xmlns:a="http://schemas.openxmlformats.org/drawingml/2006/main" noGrp="1"/>
          </p:cNvSpPr>
          <p:nvPr/>
        </p:nvSpPr>
        <p:spPr>
          <a:xfrm xmlns:a="http://schemas.openxmlformats.org/drawingml/2006/main">
            <a:off x="70675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chunks</a:t>
            </a:r>
          </a:p>
        </p:txBody>
      </p:sp>
      <p:sp>
        <p:nvSpPr>
          <p:cNvPr id="6" name="">
            <a:extLst xmlns:a="http://schemas.openxmlformats.org/drawingml/2006/main">
              <a:ext uri="{FF2B5EF4-FFF2-40B4-BE49-F238E27FC236}">
                <a16:creationId xmlns:a16="http://schemas.microsoft.com/office/drawing/2014/main" id="{5023498A-A713-410B-AA11-F4B2B5D368DE}"/>
              </a:ext>
            </a:extLst>
          </p:cNvPr>
          <p:cNvSpPr>
            <a:spLocks xmlns:a="http://schemas.openxmlformats.org/drawingml/2006/main" noGrp="1"/>
          </p:cNvSpPr>
          <p:nvPr/>
        </p:nvSpPr>
        <p:spPr>
          <a:xfrm xmlns:a="http://schemas.openxmlformats.org/drawingml/2006/main">
            <a:off x="9277350" y="160020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Vectors + metadata</a:t>
            </a:r>
          </a:p>
        </p:txBody>
      </p:sp>
      <p:cxnSp>
        <p:nvCxnSpPr>
          <p:cNvPr id="44" name=""/>
          <p:cNvCxnSpPr>
            <a:stCxn xmlns:a="http://schemas.openxmlformats.org/drawingml/2006/main" id="3" idx="3"/>
            <a:endCxn xmlns:a="http://schemas.openxmlformats.org/drawingml/2006/main" id="4" idx="1"/>
          </p:cNvCxnSpPr>
          <p:nvPr/>
        </p:nvCxnSpPr>
        <p:spPr>
          <a:xfrm xmlns:a="http://schemas.openxmlformats.org/drawingml/2006/main">
            <a:off x="45720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67818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a:off x="89916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10" name="">
            <a:extLst xmlns:a="http://schemas.openxmlformats.org/drawingml/2006/main">
              <a:ext uri="{FF2B5EF4-FFF2-40B4-BE49-F238E27FC236}">
                <a16:creationId xmlns:a16="http://schemas.microsoft.com/office/drawing/2014/main" id="{0E509495-5C30-4086-815B-04433B44ED8E}"/>
              </a:ext>
            </a:extLst>
          </p:cNvPr>
          <p:cNvSpPr>
            <a:spLocks xmlns:a="http://schemas.openxmlformats.org/drawingml/2006/main" noGrp="1"/>
          </p:cNvSpPr>
          <p:nvPr/>
        </p:nvSpPr>
        <p:spPr>
          <a:xfrm xmlns:a="http://schemas.openxmlformats.org/drawingml/2006/main">
            <a:off x="685800" y="28765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Retrieval</a:t>
            </a:r>
          </a:p>
        </p:txBody>
      </p:sp>
      <p:sp>
        <p:nvSpPr>
          <p:cNvPr id="11" name="">
            <a:extLst xmlns:a="http://schemas.openxmlformats.org/drawingml/2006/main">
              <a:ext uri="{FF2B5EF4-FFF2-40B4-BE49-F238E27FC236}">
                <a16:creationId xmlns:a16="http://schemas.microsoft.com/office/drawing/2014/main" id="{17611045-438B-4E32-9E48-3FBEB2609EC1}"/>
              </a:ext>
            </a:extLst>
          </p:cNvPr>
          <p:cNvSpPr>
            <a:spLocks xmlns:a="http://schemas.openxmlformats.org/drawingml/2006/main" noGrp="1"/>
          </p:cNvSpPr>
          <p:nvPr/>
        </p:nvSpPr>
        <p:spPr>
          <a:xfrm xmlns:a="http://schemas.openxmlformats.org/drawingml/2006/main">
            <a:off x="26479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User question</a:t>
            </a:r>
          </a:p>
        </p:txBody>
      </p:sp>
      <p:sp>
        <p:nvSpPr>
          <p:cNvPr id="12" name="">
            <a:extLst xmlns:a="http://schemas.openxmlformats.org/drawingml/2006/main">
              <a:ext uri="{FF2B5EF4-FFF2-40B4-BE49-F238E27FC236}">
                <a16:creationId xmlns:a16="http://schemas.microsoft.com/office/drawing/2014/main" id="{138B85AD-DB78-416C-AEF1-AF00C49C6B86}"/>
              </a:ext>
            </a:extLst>
          </p:cNvPr>
          <p:cNvSpPr>
            <a:spLocks xmlns:a="http://schemas.openxmlformats.org/drawingml/2006/main" noGrp="1"/>
          </p:cNvSpPr>
          <p:nvPr/>
        </p:nvSpPr>
        <p:spPr>
          <a:xfrm xmlns:a="http://schemas.openxmlformats.org/drawingml/2006/main">
            <a:off x="48577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query</a:t>
            </a:r>
          </a:p>
        </p:txBody>
      </p:sp>
      <p:sp>
        <p:nvSpPr>
          <p:cNvPr id="13" name="">
            <a:extLst xmlns:a="http://schemas.openxmlformats.org/drawingml/2006/main">
              <a:ext uri="{FF2B5EF4-FFF2-40B4-BE49-F238E27FC236}">
                <a16:creationId xmlns:a16="http://schemas.microsoft.com/office/drawing/2014/main" id="{844CEF2A-E8F4-4929-92AA-674512567698}"/>
              </a:ext>
            </a:extLst>
          </p:cNvPr>
          <p:cNvSpPr>
            <a:spLocks xmlns:a="http://schemas.openxmlformats.org/drawingml/2006/main" noGrp="1"/>
          </p:cNvSpPr>
          <p:nvPr/>
        </p:nvSpPr>
        <p:spPr>
          <a:xfrm xmlns:a="http://schemas.openxmlformats.org/drawingml/2006/main">
            <a:off x="70675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Hybrid search</a:t>
            </a:r>
          </a:p>
        </p:txBody>
      </p:sp>
      <p:sp>
        <p:nvSpPr>
          <p:cNvPr id="14" name="">
            <a:extLst xmlns:a="http://schemas.openxmlformats.org/drawingml/2006/main">
              <a:ext uri="{FF2B5EF4-FFF2-40B4-BE49-F238E27FC236}">
                <a16:creationId xmlns:a16="http://schemas.microsoft.com/office/drawing/2014/main" id="{0CEE6CF4-2F85-4C56-B594-526C3A2DA24A}"/>
              </a:ext>
            </a:extLst>
          </p:cNvPr>
          <p:cNvSpPr>
            <a:spLocks xmlns:a="http://schemas.openxmlformats.org/drawingml/2006/main" noGrp="1"/>
          </p:cNvSpPr>
          <p:nvPr/>
        </p:nvSpPr>
        <p:spPr>
          <a:xfrm xmlns:a="http://schemas.openxmlformats.org/drawingml/2006/main">
            <a:off x="9277350" y="2800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Top 5 chunks</a:t>
            </a:r>
          </a:p>
        </p:txBody>
      </p:sp>
      <p:cxnSp>
        <p:nvCxnSpPr>
          <p:cNvPr id="52" name=""/>
          <p:cNvCxnSpPr>
            <a:stCxn xmlns:a="http://schemas.openxmlformats.org/drawingml/2006/main" id="11" idx="3"/>
            <a:endCxn xmlns:a="http://schemas.openxmlformats.org/drawingml/2006/main" id="12" idx="1"/>
          </p:cNvCxnSpPr>
          <p:nvPr/>
        </p:nvCxnSpPr>
        <p:spPr>
          <a:xfrm xmlns:a="http://schemas.openxmlformats.org/drawingml/2006/main">
            <a:off x="45720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3" name=""/>
          <p:cNvCxnSpPr>
            <a:stCxn xmlns:a="http://schemas.openxmlformats.org/drawingml/2006/main" id="12" idx="3"/>
            <a:endCxn xmlns:a="http://schemas.openxmlformats.org/drawingml/2006/main" id="13" idx="1"/>
          </p:cNvCxnSpPr>
          <p:nvPr/>
        </p:nvCxnSpPr>
        <p:spPr>
          <a:xfrm xmlns:a="http://schemas.openxmlformats.org/drawingml/2006/main">
            <a:off x="67818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4" name=""/>
          <p:cNvCxnSpPr>
            <a:stCxn xmlns:a="http://schemas.openxmlformats.org/drawingml/2006/main" id="13" idx="3"/>
            <a:endCxn xmlns:a="http://schemas.openxmlformats.org/drawingml/2006/main" id="14" idx="1"/>
          </p:cNvCxnSpPr>
          <p:nvPr/>
        </p:nvCxnSpPr>
        <p:spPr>
          <a:xfrm xmlns:a="http://schemas.openxmlformats.org/drawingml/2006/main">
            <a:off x="89916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5" name=""/>
          <p:cNvCxnSpPr>
            <a:stCxn xmlns:a="http://schemas.openxmlformats.org/drawingml/2006/main" id="6" idx="2"/>
            <a:endCxn xmlns:a="http://schemas.openxmlformats.org/drawingml/2006/main" id="13" idx="0"/>
          </p:cNvCxnSpPr>
          <p:nvPr/>
        </p:nvCxnSpPr>
        <p:spPr>
          <a:xfrm xmlns:a="http://schemas.openxmlformats.org/drawingml/2006/main" flipH="1">
            <a:off x="8029575" y="2228850"/>
            <a:ext cx="2209800" cy="571500"/>
          </a:xfrm>
          <a:prstGeom xmlns:a="http://schemas.openxmlformats.org/drawingml/2006/main" prst="bentConnector4">
            <a:avLst>
              <a:gd name="adj1" fmla="val 0"/>
              <a:gd name="adj2" fmla="val 50000"/>
            </a:avLst>
          </a:prstGeom>
          <a:ln xmlns:a="http://schemas.openxmlformats.org/drawingml/2006/main" w="19050">
            <a:solidFill>
              <a:srgbClr val="167C72"/>
            </a:solidFill>
            <a:tailEnd type="triangle" w="med" len="med"/>
          </a:ln>
        </p:spPr>
      </p:cxnSp>
      <p:sp>
        <p:nvSpPr>
          <p:cNvPr id="19" name="">
            <a:extLst xmlns:a="http://schemas.openxmlformats.org/drawingml/2006/main">
              <a:ext uri="{FF2B5EF4-FFF2-40B4-BE49-F238E27FC236}">
                <a16:creationId xmlns:a16="http://schemas.microsoft.com/office/drawing/2014/main" id="{293DE388-A33A-4D3E-AE7D-50494D1184DF}"/>
              </a:ext>
            </a:extLst>
          </p:cNvPr>
          <p:cNvSpPr>
            <a:spLocks xmlns:a="http://schemas.openxmlformats.org/drawingml/2006/main" noGrp="1"/>
          </p:cNvSpPr>
          <p:nvPr/>
        </p:nvSpPr>
        <p:spPr>
          <a:xfrm xmlns:a="http://schemas.openxmlformats.org/drawingml/2006/main">
            <a:off x="4886325" y="3486150"/>
            <a:ext cx="631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Semantic similarity + BM25 + phrase boost</a:t>
            </a:r>
          </a:p>
        </p:txBody>
      </p:sp>
      <p:sp>
        <p:nvSpPr>
          <p:cNvPr id="20" name="">
            <a:extLst xmlns:a="http://schemas.openxmlformats.org/drawingml/2006/main">
              <a:ext uri="{FF2B5EF4-FFF2-40B4-BE49-F238E27FC236}">
                <a16:creationId xmlns:a16="http://schemas.microsoft.com/office/drawing/2014/main" id="{741A1F86-FE42-454C-855D-FB2D2E51F6DD}"/>
              </a:ext>
            </a:extLst>
          </p:cNvPr>
          <p:cNvSpPr>
            <a:spLocks xmlns:a="http://schemas.openxmlformats.org/drawingml/2006/main" noGrp="1"/>
          </p:cNvSpPr>
          <p:nvPr/>
        </p:nvSpPr>
        <p:spPr>
          <a:xfrm xmlns:a="http://schemas.openxmlformats.org/drawingml/2006/main">
            <a:off x="685800" y="42100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Generation</a:t>
            </a:r>
          </a:p>
        </p:txBody>
      </p:sp>
      <p:sp>
        <p:nvSpPr>
          <p:cNvPr id="21" name="">
            <a:extLst xmlns:a="http://schemas.openxmlformats.org/drawingml/2006/main">
              <a:ext uri="{FF2B5EF4-FFF2-40B4-BE49-F238E27FC236}">
                <a16:creationId xmlns:a16="http://schemas.microsoft.com/office/drawing/2014/main" id="{BBB6B5ED-821B-4CF7-B905-8B66C1B8C33F}"/>
              </a:ext>
            </a:extLst>
          </p:cNvPr>
          <p:cNvSpPr>
            <a:spLocks xmlns:a="http://schemas.openxmlformats.org/drawingml/2006/main" noGrp="1"/>
          </p:cNvSpPr>
          <p:nvPr/>
        </p:nvSpPr>
        <p:spPr>
          <a:xfrm xmlns:a="http://schemas.openxmlformats.org/drawingml/2006/main">
            <a:off x="92773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Build context</a:t>
            </a:r>
          </a:p>
        </p:txBody>
      </p:sp>
      <p:sp>
        <p:nvSpPr>
          <p:cNvPr id="22" name="">
            <a:extLst xmlns:a="http://schemas.openxmlformats.org/drawingml/2006/main">
              <a:ext uri="{FF2B5EF4-FFF2-40B4-BE49-F238E27FC236}">
                <a16:creationId xmlns:a16="http://schemas.microsoft.com/office/drawing/2014/main" id="{6C2B8D91-6AB1-4F51-B37B-6A446691F5E5}"/>
              </a:ext>
            </a:extLst>
          </p:cNvPr>
          <p:cNvSpPr>
            <a:spLocks xmlns:a="http://schemas.openxmlformats.org/drawingml/2006/main" noGrp="1"/>
          </p:cNvSpPr>
          <p:nvPr/>
        </p:nvSpPr>
        <p:spPr>
          <a:xfrm xmlns:a="http://schemas.openxmlformats.org/drawingml/2006/main">
            <a:off x="70675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LLM answer</a:t>
            </a:r>
          </a:p>
        </p:txBody>
      </p:sp>
      <p:sp>
        <p:nvSpPr>
          <p:cNvPr id="23" name="">
            <a:extLst xmlns:a="http://schemas.openxmlformats.org/drawingml/2006/main">
              <a:ext uri="{FF2B5EF4-FFF2-40B4-BE49-F238E27FC236}">
                <a16:creationId xmlns:a16="http://schemas.microsoft.com/office/drawing/2014/main" id="{CBABE1B7-6C0A-47DE-B042-5A42D3A22E02}"/>
              </a:ext>
            </a:extLst>
          </p:cNvPr>
          <p:cNvSpPr>
            <a:spLocks xmlns:a="http://schemas.openxmlformats.org/drawingml/2006/main" noGrp="1"/>
          </p:cNvSpPr>
          <p:nvPr/>
        </p:nvSpPr>
        <p:spPr>
          <a:xfrm xmlns:a="http://schemas.openxmlformats.org/drawingml/2006/main">
            <a:off x="48577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Check citation IDs</a:t>
            </a:r>
          </a:p>
        </p:txBody>
      </p:sp>
      <p:sp>
        <p:nvSpPr>
          <p:cNvPr id="24" name="">
            <a:extLst xmlns:a="http://schemas.openxmlformats.org/drawingml/2006/main">
              <a:ext uri="{FF2B5EF4-FFF2-40B4-BE49-F238E27FC236}">
                <a16:creationId xmlns:a16="http://schemas.microsoft.com/office/drawing/2014/main" id="{F6D2F131-31D3-4704-B841-DA8423FC1749}"/>
              </a:ext>
            </a:extLst>
          </p:cNvPr>
          <p:cNvSpPr>
            <a:spLocks xmlns:a="http://schemas.openxmlformats.org/drawingml/2006/main" noGrp="1"/>
          </p:cNvSpPr>
          <p:nvPr/>
        </p:nvSpPr>
        <p:spPr>
          <a:xfrm xmlns:a="http://schemas.openxmlformats.org/drawingml/2006/main">
            <a:off x="2647950" y="41338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Answer + run log</a:t>
            </a:r>
          </a:p>
        </p:txBody>
      </p:sp>
      <p:cxnSp>
        <p:nvCxnSpPr>
          <p:cNvPr id="62" name=""/>
          <p:cNvCxnSpPr>
            <a:stCxn xmlns:a="http://schemas.openxmlformats.org/drawingml/2006/main" id="14" idx="2"/>
            <a:endCxn xmlns:a="http://schemas.openxmlformats.org/drawingml/2006/main" id="21" idx="0"/>
          </p:cNvCxnSpPr>
          <p:nvPr/>
        </p:nvCxnSpPr>
        <p:spPr>
          <a:xfrm xmlns:a="http://schemas.openxmlformats.org/drawingml/2006/main">
            <a:off x="10239375" y="3429000"/>
            <a:ext cx="0" cy="70485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3" name=""/>
          <p:cNvCxnSpPr>
            <a:stCxn xmlns:a="http://schemas.openxmlformats.org/drawingml/2006/main" id="21" idx="1"/>
            <a:endCxn xmlns:a="http://schemas.openxmlformats.org/drawingml/2006/main" id="22" idx="3"/>
          </p:cNvCxnSpPr>
          <p:nvPr/>
        </p:nvCxnSpPr>
        <p:spPr>
          <a:xfrm xmlns:a="http://schemas.openxmlformats.org/drawingml/2006/main" flipH="1">
            <a:off x="89916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4" name=""/>
          <p:cNvCxnSpPr>
            <a:stCxn xmlns:a="http://schemas.openxmlformats.org/drawingml/2006/main" id="22" idx="1"/>
            <a:endCxn xmlns:a="http://schemas.openxmlformats.org/drawingml/2006/main" id="23" idx="3"/>
          </p:cNvCxnSpPr>
          <p:nvPr/>
        </p:nvCxnSpPr>
        <p:spPr>
          <a:xfrm xmlns:a="http://schemas.openxmlformats.org/drawingml/2006/main" flipH="1">
            <a:off x="67818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5" name=""/>
          <p:cNvCxnSpPr>
            <a:stCxn xmlns:a="http://schemas.openxmlformats.org/drawingml/2006/main" id="23" idx="1"/>
            <a:endCxn xmlns:a="http://schemas.openxmlformats.org/drawingml/2006/main" id="24" idx="3"/>
          </p:cNvCxnSpPr>
          <p:nvPr/>
        </p:nvCxnSpPr>
        <p:spPr>
          <a:xfrm xmlns:a="http://schemas.openxmlformats.org/drawingml/2006/main" flipH="1">
            <a:off x="45720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29" name="">
            <a:extLst xmlns:a="http://schemas.openxmlformats.org/drawingml/2006/main">
              <a:ext uri="{FF2B5EF4-FFF2-40B4-BE49-F238E27FC236}">
                <a16:creationId xmlns:a16="http://schemas.microsoft.com/office/drawing/2014/main" id="{13A13186-CFD7-49F9-A16D-380215084154}"/>
              </a:ext>
            </a:extLst>
          </p:cNvPr>
          <p:cNvSpPr>
            <a:spLocks xmlns:a="http://schemas.openxmlformats.org/drawingml/2006/main" noGrp="1"/>
          </p:cNvSpPr>
          <p:nvPr/>
        </p:nvSpPr>
        <p:spPr>
          <a:xfrm xmlns:a="http://schemas.openxmlformats.org/drawingml/2006/main">
            <a:off x="685800" y="5543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Evaluation</a:t>
            </a:r>
          </a:p>
        </p:txBody>
      </p:sp>
      <p:sp>
        <p:nvSpPr>
          <p:cNvPr id="30" name="">
            <a:extLst xmlns:a="http://schemas.openxmlformats.org/drawingml/2006/main">
              <a:ext uri="{FF2B5EF4-FFF2-40B4-BE49-F238E27FC236}">
                <a16:creationId xmlns:a16="http://schemas.microsoft.com/office/drawing/2014/main" id="{4A55A170-1477-4A73-8C71-0E124960D86C}"/>
              </a:ext>
            </a:extLst>
          </p:cNvPr>
          <p:cNvSpPr>
            <a:spLocks xmlns:a="http://schemas.openxmlformats.org/drawingml/2006/main" noGrp="1"/>
          </p:cNvSpPr>
          <p:nvPr/>
        </p:nvSpPr>
        <p:spPr>
          <a:xfrm xmlns:a="http://schemas.openxmlformats.org/drawingml/2006/main">
            <a:off x="26479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Labeled queries</a:t>
            </a:r>
          </a:p>
        </p:txBody>
      </p:sp>
      <p:sp>
        <p:nvSpPr>
          <p:cNvPr id="31" name="">
            <a:extLst xmlns:a="http://schemas.openxmlformats.org/drawingml/2006/main">
              <a:ext uri="{FF2B5EF4-FFF2-40B4-BE49-F238E27FC236}">
                <a16:creationId xmlns:a16="http://schemas.microsoft.com/office/drawing/2014/main" id="{D05C273A-C6AE-40F8-8CFD-F7A7D65C0435}"/>
              </a:ext>
            </a:extLst>
          </p:cNvPr>
          <p:cNvSpPr>
            <a:spLocks xmlns:a="http://schemas.openxmlformats.org/drawingml/2006/main" noGrp="1"/>
          </p:cNvSpPr>
          <p:nvPr/>
        </p:nvSpPr>
        <p:spPr>
          <a:xfrm xmlns:a="http://schemas.openxmlformats.org/drawingml/2006/main">
            <a:off x="48577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Run retrieval</a:t>
            </a:r>
          </a:p>
        </p:txBody>
      </p:sp>
      <p:sp>
        <p:nvSpPr>
          <p:cNvPr id="32" name="">
            <a:extLst xmlns:a="http://schemas.openxmlformats.org/drawingml/2006/main">
              <a:ext uri="{FF2B5EF4-FFF2-40B4-BE49-F238E27FC236}">
                <a16:creationId xmlns:a16="http://schemas.microsoft.com/office/drawing/2014/main" id="{2574EA89-AB9D-4B80-A07B-D6E758B40546}"/>
              </a:ext>
            </a:extLst>
          </p:cNvPr>
          <p:cNvSpPr>
            <a:spLocks xmlns:a="http://schemas.openxmlformats.org/drawingml/2006/main" noGrp="1"/>
          </p:cNvSpPr>
          <p:nvPr/>
        </p:nvSpPr>
        <p:spPr>
          <a:xfrm xmlns:a="http://schemas.openxmlformats.org/drawingml/2006/main">
            <a:off x="70675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Compare gold IDs</a:t>
            </a:r>
          </a:p>
        </p:txBody>
      </p:sp>
      <p:sp>
        <p:nvSpPr>
          <p:cNvPr id="33" name="">
            <a:extLst xmlns:a="http://schemas.openxmlformats.org/drawingml/2006/main">
              <a:ext uri="{FF2B5EF4-FFF2-40B4-BE49-F238E27FC236}">
                <a16:creationId xmlns:a16="http://schemas.microsoft.com/office/drawing/2014/main" id="{6921D7A4-9245-4E5F-AEDC-D83025AD6BA9}"/>
              </a:ext>
            </a:extLst>
          </p:cNvPr>
          <p:cNvSpPr>
            <a:spLocks xmlns:a="http://schemas.openxmlformats.org/drawingml/2006/main" noGrp="1"/>
          </p:cNvSpPr>
          <p:nvPr/>
        </p:nvSpPr>
        <p:spPr>
          <a:xfrm xmlns:a="http://schemas.openxmlformats.org/drawingml/2006/main">
            <a:off x="9277350" y="5467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575">
                <a:solidFill>
                  <a:srgbClr val="183848"/>
                </a:solidFill>
                <a:latin typeface="Helvetica Neue"/>
                <a:ea typeface="Helvetica Neue"/>
                <a:cs typeface="Helvetica Neue"/>
              </a:defRPr>
            </a:pPr>
            <a:r>
              <a:rPr sz="1575">
                <a:solidFill>
                  <a:srgbClr val="183848"/>
                </a:solidFill>
                <a:latin typeface="Helvetica Neue"/>
                <a:ea typeface="Helvetica Neue"/>
                <a:cs typeface="Helvetica Neue"/>
              </a:rPr>
              <a:t>Recall@5</a:t>
            </a:r>
          </a:p>
          <a:p xmlns:a="http://schemas.openxmlformats.org/drawingml/2006/main">
            <a:pPr algn="ctr">
              <a:defRPr sz="1575">
                <a:solidFill>
                  <a:srgbClr val="183848"/>
                </a:solidFill>
                <a:latin typeface="Helvetica Neue"/>
                <a:ea typeface="Helvetica Neue"/>
                <a:cs typeface="Helvetica Neue"/>
              </a:defRPr>
            </a:pPr>
            <a:r>
              <a:rPr sz="1575">
                <a:solidFill>
                  <a:srgbClr val="183848"/>
                </a:solidFill>
                <a:latin typeface="Helvetica Neue"/>
                <a:ea typeface="Helvetica Neue"/>
                <a:cs typeface="Helvetica Neue"/>
              </a:rPr>
              <a:t>nDCG@5, MRR</a:t>
            </a:r>
          </a:p>
        </p:txBody>
      </p:sp>
      <p:cxnSp>
        <p:nvCxnSpPr>
          <p:cNvPr id="71" name=""/>
          <p:cNvCxnSpPr>
            <a:stCxn xmlns:a="http://schemas.openxmlformats.org/drawingml/2006/main" id="30" idx="3"/>
            <a:endCxn xmlns:a="http://schemas.openxmlformats.org/drawingml/2006/main" id="31" idx="1"/>
          </p:cNvCxnSpPr>
          <p:nvPr/>
        </p:nvCxnSpPr>
        <p:spPr>
          <a:xfrm xmlns:a="http://schemas.openxmlformats.org/drawingml/2006/main">
            <a:off x="45720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72" name=""/>
          <p:cNvCxnSpPr>
            <a:stCxn xmlns:a="http://schemas.openxmlformats.org/drawingml/2006/main" id="31" idx="3"/>
            <a:endCxn xmlns:a="http://schemas.openxmlformats.org/drawingml/2006/main" id="32" idx="1"/>
          </p:cNvCxnSpPr>
          <p:nvPr/>
        </p:nvCxnSpPr>
        <p:spPr>
          <a:xfrm xmlns:a="http://schemas.openxmlformats.org/drawingml/2006/main">
            <a:off x="67818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73" name=""/>
          <p:cNvCxnSpPr>
            <a:stCxn xmlns:a="http://schemas.openxmlformats.org/drawingml/2006/main" id="32" idx="3"/>
            <a:endCxn xmlns:a="http://schemas.openxmlformats.org/drawingml/2006/main" id="33" idx="1"/>
          </p:cNvCxnSpPr>
          <p:nvPr/>
        </p:nvCxnSpPr>
        <p:spPr>
          <a:xfrm xmlns:a="http://schemas.openxmlformats.org/drawingml/2006/main">
            <a:off x="89916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37" name="">
            <a:extLst xmlns:a="http://schemas.openxmlformats.org/drawingml/2006/main">
              <a:ext uri="{FF2B5EF4-FFF2-40B4-BE49-F238E27FC236}">
                <a16:creationId xmlns:a16="http://schemas.microsoft.com/office/drawing/2014/main" id="{330F6255-11A1-4B45-8B08-FDDE0D0C0033}"/>
              </a:ext>
            </a:extLst>
          </p:cNvPr>
          <p:cNvSpPr>
            <a:spLocks xmlns:a="http://schemas.openxmlformats.org/drawingml/2006/main" noGrp="1"/>
          </p:cNvSpPr>
          <p:nvPr/>
        </p:nvSpPr>
        <p:spPr>
          <a:xfrm xmlns:a="http://schemas.openxmlformats.org/drawingml/2006/main">
            <a:off x="2647950" y="623887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Offline evaluation of ranked evidence</a:t>
            </a:r>
          </a:p>
        </p:txBody>
      </p:sp>
    </p:spTree>
    <p:extLst>
      <p:ext uri="{BB962C8B-B14F-4D97-AF65-F5344CB8AC3E}">
        <p14:creationId xmlns:p14="http://schemas.microsoft.com/office/powerpoint/2010/main" val="2078512585"/>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EB7160-8AC6-4130-98B4-B220BCB0A4B6}"/>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Hybrid retrieval</a:t>
            </a:r>
          </a:p>
        </p:txBody>
      </p:sp>
      <p:sp>
        <p:nvSpPr>
          <p:cNvPr id="2" name="">
            <a:extLst xmlns:a="http://schemas.openxmlformats.org/drawingml/2006/main">
              <a:ext uri="{FF2B5EF4-FFF2-40B4-BE49-F238E27FC236}">
                <a16:creationId xmlns:a16="http://schemas.microsoft.com/office/drawing/2014/main" id="{CA64D8BB-C9E3-4F93-B4E2-23DF31C80F3B}"/>
              </a:ext>
            </a:extLst>
          </p:cNvPr>
          <p:cNvSpPr>
            <a:spLocks xmlns:a="http://schemas.openxmlformats.org/drawingml/2006/main" noGrp="1"/>
          </p:cNvSpPr>
          <p:nvPr/>
        </p:nvSpPr>
        <p:spPr>
          <a:xfrm xmlns:a="http://schemas.openxmlformats.org/drawingml/2006/main">
            <a:off x="704850" y="2047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67C72"/>
                </a:solidFill>
                <a:latin typeface="Helvetica Neue"/>
                <a:ea typeface="Helvetica Neue"/>
                <a:cs typeface="Helvetica Neue"/>
              </a:defRPr>
            </a:pPr>
            <a:r>
              <a:rPr sz="3675" b="1">
                <a:solidFill>
                  <a:srgbClr val="167C72"/>
                </a:solidFill>
                <a:latin typeface="Helvetica Neue"/>
                <a:ea typeface="Helvetica Neue"/>
                <a:cs typeface="Helvetica Neue"/>
              </a:rPr>
              <a:t>0.4 × semantic + 0.6 × lexical</a:t>
            </a:r>
          </a:p>
        </p:txBody>
      </p:sp>
      <p:sp>
        <p:nvSpPr>
          <p:cNvPr id="3" name="">
            <a:extLst xmlns:a="http://schemas.openxmlformats.org/drawingml/2006/main">
              <a:ext uri="{FF2B5EF4-FFF2-40B4-BE49-F238E27FC236}">
                <a16:creationId xmlns:a16="http://schemas.microsoft.com/office/drawing/2014/main" id="{8D9F7CE4-95A5-4F7F-9B85-4A670B2C2C0E}"/>
              </a:ext>
            </a:extLst>
          </p:cNvPr>
          <p:cNvSpPr>
            <a:spLocks xmlns:a="http://schemas.openxmlformats.org/drawingml/2006/main" noGrp="1"/>
          </p:cNvSpPr>
          <p:nvPr/>
        </p:nvSpPr>
        <p:spPr>
          <a:xfrm xmlns:a="http://schemas.openxmlformats.org/drawingml/2006/main">
            <a:off x="704850" y="2886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848"/>
                </a:solidFill>
                <a:latin typeface="Helvetica Neue"/>
                <a:ea typeface="Helvetica Neue"/>
                <a:cs typeface="Helvetica Neue"/>
              </a:defRPr>
            </a:pPr>
            <a:r>
              <a:rPr sz="2850" b="0">
                <a:solidFill>
                  <a:srgbClr val="183848"/>
                </a:solidFill>
                <a:latin typeface="Helvetica Neue"/>
                <a:ea typeface="Helvetica Neue"/>
                <a:cs typeface="Helvetica Neue"/>
              </a:rPr>
              <a:t>+ exact-phrase boost</a:t>
            </a:r>
          </a:p>
        </p:txBody>
      </p:sp>
      <p:sp>
        <p:nvSpPr>
          <p:cNvPr id="4" name="">
            <a:extLst xmlns:a="http://schemas.openxmlformats.org/drawingml/2006/main">
              <a:ext uri="{FF2B5EF4-FFF2-40B4-BE49-F238E27FC236}">
                <a16:creationId xmlns:a16="http://schemas.microsoft.com/office/drawing/2014/main" id="{F3506CC9-FBA4-4F54-B7AB-1BF62ACCBDDE}"/>
              </a:ext>
            </a:extLst>
          </p:cNvPr>
          <p:cNvSpPr>
            <a:spLocks xmlns:a="http://schemas.openxmlformats.org/drawingml/2006/main" noGrp="1"/>
          </p:cNvSpPr>
          <p:nvPr/>
        </p:nvSpPr>
        <p:spPr>
          <a:xfrm xmlns:a="http://schemas.openxmlformats.org/drawingml/2006/main">
            <a:off x="704850" y="4038600"/>
            <a:ext cx="10382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Semantic similarity captures related wording.</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BM25-style matching preserves financial terminology.</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Separate scores make ranking decisions inspectable.</a:t>
            </a:r>
          </a:p>
        </p:txBody>
      </p:sp>
    </p:spTree>
    <p:extLst>
      <p:ext uri="{BB962C8B-B14F-4D97-AF65-F5344CB8AC3E}">
        <p14:creationId xmlns:p14="http://schemas.microsoft.com/office/powerpoint/2010/main" val="106248560"/>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80123F-4A6F-405A-90C3-E37F1CE666AD}"/>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A saved answer with a traceable source</a:t>
            </a:r>
          </a:p>
        </p:txBody>
      </p:sp>
      <p:sp>
        <p:nvSpPr>
          <p:cNvPr id="2" name="">
            <a:extLst xmlns:a="http://schemas.openxmlformats.org/drawingml/2006/main">
              <a:ext uri="{FF2B5EF4-FFF2-40B4-BE49-F238E27FC236}">
                <a16:creationId xmlns:a16="http://schemas.microsoft.com/office/drawing/2014/main" id="{040E3DEF-DADC-497B-A48A-3E96C743A165}"/>
              </a:ext>
            </a:extLst>
          </p:cNvPr>
          <p:cNvSpPr>
            <a:spLocks xmlns:a="http://schemas.openxmlformats.org/drawingml/2006/main" noGrp="1"/>
          </p:cNvSpPr>
          <p:nvPr/>
        </p:nvSpPr>
        <p:spPr>
          <a:xfrm xmlns:a="http://schemas.openxmlformats.org/drawingml/2006/main">
            <a:off x="704850" y="175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2"/>
                </a:solidFill>
                <a:latin typeface="Helvetica Neue"/>
                <a:ea typeface="Helvetica Neue"/>
                <a:cs typeface="Helvetica Neue"/>
              </a:defRPr>
            </a:pPr>
            <a:r>
              <a:rPr sz="1800" b="1">
                <a:solidFill>
                  <a:srgbClr val="167C72"/>
                </a:solidFill>
                <a:latin typeface="Helvetica Neue"/>
                <a:ea typeface="Helvetica Neue"/>
                <a:cs typeface="Helvetica Neue"/>
              </a:rPr>
              <a:t>Question</a:t>
            </a:r>
          </a:p>
        </p:txBody>
      </p:sp>
      <p:sp>
        <p:nvSpPr>
          <p:cNvPr id="3" name="">
            <a:extLst xmlns:a="http://schemas.openxmlformats.org/drawingml/2006/main">
              <a:ext uri="{FF2B5EF4-FFF2-40B4-BE49-F238E27FC236}">
                <a16:creationId xmlns:a16="http://schemas.microsoft.com/office/drawing/2014/main" id="{499F74E2-EDC3-4FBC-B542-E5C8BCBF962B}"/>
              </a:ext>
            </a:extLst>
          </p:cNvPr>
          <p:cNvSpPr>
            <a:spLocks xmlns:a="http://schemas.openxmlformats.org/drawingml/2006/main" noGrp="1"/>
          </p:cNvSpPr>
          <p:nvPr/>
        </p:nvSpPr>
        <p:spPr>
          <a:xfrm xmlns:a="http://schemas.openxmlformats.org/drawingml/2006/main">
            <a:off x="704850" y="22098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848"/>
                </a:solidFill>
                <a:latin typeface="Helvetica Neue"/>
                <a:ea typeface="Helvetica Neue"/>
                <a:cs typeface="Helvetica Neue"/>
              </a:defRPr>
            </a:pPr>
            <a:r>
              <a:rPr sz="2550" b="0">
                <a:solidFill>
                  <a:srgbClr val="183848"/>
                </a:solidFill>
                <a:latin typeface="Helvetica Neue"/>
                <a:ea typeface="Helvetica Neue"/>
                <a:cs typeface="Helvetica Neue"/>
              </a:rPr>
              <a:t>What was the major revenue generator in 2025?</a:t>
            </a:r>
          </a:p>
        </p:txBody>
      </p:sp>
      <p:sp>
        <p:nvSpPr>
          <p:cNvPr id="4" name="">
            <a:extLst xmlns:a="http://schemas.openxmlformats.org/drawingml/2006/main">
              <a:ext uri="{FF2B5EF4-FFF2-40B4-BE49-F238E27FC236}">
                <a16:creationId xmlns:a16="http://schemas.microsoft.com/office/drawing/2014/main" id="{0F25D205-62B1-447B-83FF-B1E01D934A18}"/>
              </a:ext>
            </a:extLst>
          </p:cNvPr>
          <p:cNvSpPr>
            <a:spLocks xmlns:a="http://schemas.openxmlformats.org/drawingml/2006/main" noGrp="1"/>
          </p:cNvSpPr>
          <p:nvPr/>
        </p:nvSpPr>
        <p:spPr>
          <a:xfrm xmlns:a="http://schemas.openxmlformats.org/drawingml/2006/main">
            <a:off x="70485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“Discount revenue, totaling $37.4 billion, was the</a:t>
            </a:r>
          </a:p>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largest revenue generator in 2025.”</a:t>
            </a:r>
          </a:p>
        </p:txBody>
      </p:sp>
      <p:sp>
        <p:nvSpPr>
          <p:cNvPr id="5" name="">
            <a:extLst xmlns:a="http://schemas.openxmlformats.org/drawingml/2006/main">
              <a:ext uri="{FF2B5EF4-FFF2-40B4-BE49-F238E27FC236}">
                <a16:creationId xmlns:a16="http://schemas.microsoft.com/office/drawing/2014/main" id="{2579BA6A-C303-4383-A54C-8D08937DB7FD}"/>
              </a:ext>
            </a:extLst>
          </p:cNvPr>
          <p:cNvSpPr>
            <a:spLocks xmlns:a="http://schemas.openxmlformats.org/drawingml/2006/main" noGrp="1"/>
          </p:cNvSpPr>
          <p:nvPr/>
        </p:nvSpPr>
        <p:spPr>
          <a:xfrm xmlns:a="http://schemas.openxmlformats.org/drawingml/2006/main">
            <a:off x="704850" y="4676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7C72"/>
                </a:solidFill>
                <a:latin typeface="Helvetica Neue"/>
                <a:ea typeface="Helvetica Neue"/>
                <a:cs typeface="Helvetica Neue"/>
              </a:defRPr>
            </a:pPr>
            <a:r>
              <a:rPr sz="1950" b="0">
                <a:solidFill>
                  <a:srgbClr val="167C72"/>
                </a:solidFill>
                <a:latin typeface="Helvetica Neue"/>
                <a:ea typeface="Helvetica Neue"/>
                <a:cs typeface="Helvetica Neue"/>
              </a:rPr>
              <a:t>[Chunk 127, Page 63]   Retrieved at rank 4</a:t>
            </a:r>
          </a:p>
        </p:txBody>
      </p:sp>
      <p:sp>
        <p:nvSpPr>
          <p:cNvPr id="6" name="">
            <a:extLst xmlns:a="http://schemas.openxmlformats.org/drawingml/2006/main">
              <a:ext uri="{FF2B5EF4-FFF2-40B4-BE49-F238E27FC236}">
                <a16:creationId xmlns:a16="http://schemas.microsoft.com/office/drawing/2014/main" id="{AA5910EC-51CF-4F1A-AD80-4461E1AF9C16}"/>
              </a:ext>
            </a:extLst>
          </p:cNvPr>
          <p:cNvSpPr>
            <a:spLocks xmlns:a="http://schemas.openxmlformats.org/drawingml/2006/main" noGrp="1"/>
          </p:cNvSpPr>
          <p:nvPr/>
        </p:nvSpPr>
        <p:spPr>
          <a:xfrm xmlns:a="http://schemas.openxmlformats.org/drawingml/2006/main">
            <a:off x="704850" y="58578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Citation checks validate chunk IDs, not the truth of every claim.</a:t>
            </a:r>
          </a:p>
        </p:txBody>
      </p:sp>
    </p:spTree>
    <p:extLst>
      <p:ext uri="{BB962C8B-B14F-4D97-AF65-F5344CB8AC3E}">
        <p14:creationId xmlns:p14="http://schemas.microsoft.com/office/powerpoint/2010/main" val="489160897"/>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0C6148-FBFE-44C1-8D12-FB252B84F2DE}"/>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Chunking strategy comparison</a:t>
            </a:r>
          </a:p>
        </p:txBody>
      </p:sp>
      <p:sp>
        <p:nvSpPr>
          <p:cNvPr id="2" name="">
            <a:extLst xmlns:a="http://schemas.openxmlformats.org/drawingml/2006/main">
              <a:ext uri="{FF2B5EF4-FFF2-40B4-BE49-F238E27FC236}">
                <a16:creationId xmlns:a16="http://schemas.microsoft.com/office/drawing/2014/main" id="{645BE636-9F55-46C7-9B1C-E8E12E059CA6}"/>
              </a:ext>
            </a:extLst>
          </p:cNvPr>
          <p:cNvSpPr>
            <a:spLocks xmlns:a="http://schemas.openxmlformats.org/drawingml/2006/main" noGrp="1"/>
          </p:cNvSpPr>
          <p:nvPr/>
        </p:nvSpPr>
        <p:spPr>
          <a:xfrm xmlns:a="http://schemas.openxmlformats.org/drawingml/2006/main">
            <a:off x="3181350" y="16764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848"/>
                </a:solidFill>
                <a:latin typeface="Helvetica Neue"/>
                <a:ea typeface="Helvetica Neue"/>
                <a:cs typeface="Helvetica Neue"/>
              </a:defRPr>
            </a:pPr>
            <a:r>
              <a:rPr sz="2175" b="1">
                <a:solidFill>
                  <a:srgbClr val="183848"/>
                </a:solidFill>
                <a:latin typeface="Helvetica Neue"/>
                <a:ea typeface="Helvetica Neue"/>
                <a:cs typeface="Helvetica Neue"/>
              </a:rPr>
              <a:t>Fixed-size chunking</a:t>
            </a:r>
          </a:p>
        </p:txBody>
      </p:sp>
      <p:sp>
        <p:nvSpPr>
          <p:cNvPr id="3" name="">
            <a:extLst xmlns:a="http://schemas.openxmlformats.org/drawingml/2006/main">
              <a:ext uri="{FF2B5EF4-FFF2-40B4-BE49-F238E27FC236}">
                <a16:creationId xmlns:a16="http://schemas.microsoft.com/office/drawing/2014/main" id="{1670190E-7230-40FF-B41A-77E0777B0D9B}"/>
              </a:ext>
            </a:extLst>
          </p:cNvPr>
          <p:cNvSpPr>
            <a:spLocks xmlns:a="http://schemas.openxmlformats.org/drawingml/2006/main" noGrp="1"/>
          </p:cNvSpPr>
          <p:nvPr/>
        </p:nvSpPr>
        <p:spPr>
          <a:xfrm xmlns:a="http://schemas.openxmlformats.org/drawingml/2006/main">
            <a:off x="7439025" y="16764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C72"/>
                </a:solidFill>
                <a:latin typeface="Helvetica Neue"/>
                <a:ea typeface="Helvetica Neue"/>
                <a:cs typeface="Helvetica Neue"/>
              </a:defRPr>
            </a:pPr>
            <a:r>
              <a:rPr sz="2175" b="1">
                <a:solidFill>
                  <a:srgbClr val="167C72"/>
                </a:solidFill>
                <a:latin typeface="Helvetica Neue"/>
                <a:ea typeface="Helvetica Neue"/>
                <a:cs typeface="Helvetica Neue"/>
              </a:rPr>
              <a:t>Context-aware chunking</a:t>
            </a:r>
          </a:p>
        </p:txBody>
      </p:sp>
      <p:graphicFrame>
        <p:nvGraphicFramePr>
          <p:cNvPr id="10" name=""/>
          <p:cNvGraphicFramePr/>
          <p:nvPr/>
        </p:nvGraphicFramePr>
        <p:xfrm>
          <a:off xmlns:a="http://schemas.openxmlformats.org/drawingml/2006/main" x="704850" y="2238375"/>
          <a:ext xmlns:a="http://schemas.openxmlformats.org/drawingml/2006/main" cx="10782300" cy="2686050"/>
        </p:xfrm>
        <a:graphic xmlns:a="http://schemas.openxmlformats.org/drawingml/2006/main">
          <a:graphicData uri="http://schemas.openxmlformats.org/drawingml/2006/table">
            <a:tbl>
              <a:tblPr/>
              <a:tblGrid>
                <a:gridCol w="2266950"/>
                <a:gridCol w="1419225"/>
                <a:gridCol w="1419225"/>
                <a:gridCol w="1419225"/>
                <a:gridCol w="1419225"/>
                <a:gridCol w="1419225"/>
                <a:gridCol w="1419225"/>
              </a:tblGrid>
              <a:tr h="537210">
                <a:tc>
                  <a:txBody>
                    <a:bodyPr/>
                    <a:lstStyle/>
                    <a:p>
                      <a:r>
                        <a:rPr sz="1650" b="1">
                          <a:solidFill>
                            <a:srgbClr val="FFFFFF"/>
                          </a:solidFill>
                          <a:latin typeface="Helvetica Neue"/>
                          <a:ea typeface="Helvetica Neue"/>
                          <a:cs typeface="Helvetica Neue"/>
                        </a:rPr>
                        <a:t>Question type</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Recall@5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nDCG@5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MRR</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Recall@5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nDCG@5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MRR</a:t>
                      </a:r>
                    </a:p>
                  </a:txBody>
                  <a:tcPr marL="114300" marR="76200" marT="95250" marB="95250">
                    <a:solidFill>
                      <a:srgbClr val="123342"/>
                    </a:solidFill>
                  </a:tcPr>
                </a:tc>
              </a:tr>
              <a:tr h="537210">
                <a:tc>
                  <a:txBody>
                    <a:bodyPr/>
                    <a:lstStyle/>
                    <a:p>
                      <a:r>
                        <a:rPr sz="1725">
                          <a:solidFill>
                            <a:srgbClr val="183848"/>
                          </a:solidFill>
                          <a:latin typeface="Helvetica Neue"/>
                          <a:ea typeface="Helvetica Neue"/>
                          <a:cs typeface="Helvetica Neue"/>
                        </a:rPr>
                        <a:t>Factual</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0.29%</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80.00%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50.36%</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41.12%</a:t>
                      </a:r>
                    </a:p>
                  </a:txBody>
                  <a:tcPr marL="114300" marR="76200" marT="95250" marB="95250">
                    <a:solidFill>
                      <a:srgbClr val="E3F1EA"/>
                    </a:solidFill>
                  </a:tcPr>
                </a:tc>
              </a:tr>
              <a:tr h="537210">
                <a:tc>
                  <a:txBody>
                    <a:bodyPr/>
                    <a:lstStyle/>
                    <a:p>
                      <a:r>
                        <a:rPr sz="1725">
                          <a:solidFill>
                            <a:srgbClr val="183848"/>
                          </a:solidFill>
                          <a:latin typeface="Helvetica Neue"/>
                          <a:ea typeface="Helvetica Neue"/>
                          <a:cs typeface="Helvetica Neue"/>
                        </a:rPr>
                        <a:t>Keyword</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0.44%</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80.00%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55.24%</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48.89%</a:t>
                      </a:r>
                    </a:p>
                  </a:txBody>
                  <a:tcPr marL="114300" marR="76200" marT="95250" marB="95250">
                    <a:solidFill>
                      <a:srgbClr val="E3F1EA"/>
                    </a:solidFill>
                  </a:tcPr>
                </a:tc>
              </a:tr>
              <a:tr h="537210">
                <a:tc>
                  <a:txBody>
                    <a:bodyPr/>
                    <a:lstStyle/>
                    <a:p>
                      <a:r>
                        <a:rPr sz="1725">
                          <a:solidFill>
                            <a:srgbClr val="183848"/>
                          </a:solidFill>
                          <a:latin typeface="Helvetica Neue"/>
                          <a:ea typeface="Helvetica Neue"/>
                          <a:cs typeface="Helvetica Neue"/>
                        </a:rPr>
                        <a:t>Ambiguous</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0.65%</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40.00%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27.74%</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27.28%</a:t>
                      </a:r>
                    </a:p>
                  </a:txBody>
                  <a:tcPr marL="114300" marR="76200" marT="95250" marB="95250">
                    <a:solidFill>
                      <a:srgbClr val="E3F1EA"/>
                    </a:solidFill>
                  </a:tcPr>
                </a:tc>
              </a:tr>
              <a:tr h="537210">
                <a:tc>
                  <a:txBody>
                    <a:bodyPr/>
                    <a:lstStyle/>
                    <a:p>
                      <a:r>
                        <a:rPr sz="1725">
                          <a:solidFill>
                            <a:srgbClr val="183848"/>
                          </a:solidFill>
                          <a:latin typeface="Helvetica Neue"/>
                          <a:ea typeface="Helvetica Neue"/>
                          <a:cs typeface="Helvetica Neue"/>
                        </a:rPr>
                        <a:t>Multiple chunks</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0.26%</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30.00%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27.74%</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43.83%</a:t>
                      </a:r>
                    </a:p>
                  </a:txBody>
                  <a:tcPr marL="114300" marR="76200" marT="95250" marB="95250">
                    <a:solidFill>
                      <a:srgbClr val="E3F1EA"/>
                    </a:solidFill>
                  </a:tcPr>
                </a:tc>
              </a:tr>
            </a:tbl>
          </a:graphicData>
        </a:graphic>
      </p:graphicFrame>
      <p:sp>
        <p:nvSpPr>
          <p:cNvPr id="5" name="">
            <a:extLst xmlns:a="http://schemas.openxmlformats.org/drawingml/2006/main">
              <a:ext uri="{FF2B5EF4-FFF2-40B4-BE49-F238E27FC236}">
                <a16:creationId xmlns:a16="http://schemas.microsoft.com/office/drawing/2014/main" id="{D84E5B56-F9E4-46BE-9F00-959E5A6EA739}"/>
              </a:ext>
            </a:extLst>
          </p:cNvPr>
          <p:cNvSpPr>
            <a:spLocks xmlns:a="http://schemas.openxmlformats.org/drawingml/2006/main" noGrp="1"/>
          </p:cNvSpPr>
          <p:nvPr/>
        </p:nvSpPr>
        <p:spPr>
          <a:xfrm xmlns:a="http://schemas.openxmlformats.org/drawingml/2006/main">
            <a:off x="704850" y="5238750"/>
            <a:ext cx="10782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Reported context-aware scores are higher in every category.</a:t>
            </a:r>
          </a:p>
        </p:txBody>
      </p:sp>
      <p:sp>
        <p:nvSpPr>
          <p:cNvPr id="6" name="">
            <a:extLst xmlns:a="http://schemas.openxmlformats.org/drawingml/2006/main">
              <a:ext uri="{FF2B5EF4-FFF2-40B4-BE49-F238E27FC236}">
                <a16:creationId xmlns:a16="http://schemas.microsoft.com/office/drawing/2014/main" id="{FE577DF3-CE57-4B9B-A5F3-DFD68E075D19}"/>
              </a:ext>
            </a:extLst>
          </p:cNvPr>
          <p:cNvSpPr>
            <a:spLocks xmlns:a="http://schemas.openxmlformats.org/drawingml/2006/main" noGrp="1"/>
          </p:cNvSpPr>
          <p:nvPr/>
        </p:nvSpPr>
        <p:spPr>
          <a:xfrm xmlns:a="http://schemas.openxmlformats.org/drawingml/2006/main">
            <a:off x="704850" y="5838825"/>
            <a:ext cx="1078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8"/>
                </a:solidFill>
                <a:latin typeface="Helvetica Neue"/>
                <a:ea typeface="Helvetica Neue"/>
                <a:cs typeface="Helvetica Neue"/>
              </a:defRPr>
            </a:pPr>
            <a:r>
              <a:rPr sz="1725" b="0">
                <a:solidFill>
                  <a:srgbClr val="183848"/>
                </a:solidFill>
                <a:latin typeface="Helvetica Neue"/>
                <a:ea typeface="Helvetica Neue"/>
                <a:cs typeface="Helvetica Neue"/>
              </a:rPr>
              <a:t>For a fair comparison, use the same queries and retrieval settings, and remap</a:t>
            </a:r>
          </a:p>
          <a:p xmlns:a="http://schemas.openxmlformats.org/drawingml/2006/main">
            <a:pPr>
              <a:defRPr sz="1725" b="0">
                <a:solidFill>
                  <a:srgbClr val="183848"/>
                </a:solidFill>
                <a:latin typeface="Helvetica Neue"/>
                <a:ea typeface="Helvetica Neue"/>
                <a:cs typeface="Helvetica Neue"/>
              </a:defRPr>
            </a:pPr>
            <a:r>
              <a:rPr sz="1725" b="0">
                <a:solidFill>
                  <a:srgbClr val="183848"/>
                </a:solidFill>
                <a:latin typeface="Helvetica Neue"/>
                <a:ea typeface="Helvetica Neue"/>
                <a:cs typeface="Helvetica Neue"/>
              </a:rPr>
              <a:t>relevance labels to each strategy’s chunk IDs. Context-aware run: 20 queries.</a:t>
            </a:r>
          </a:p>
        </p:txBody>
      </p:sp>
    </p:spTree>
    <p:extLst>
      <p:ext uri="{BB962C8B-B14F-4D97-AF65-F5344CB8AC3E}">
        <p14:creationId xmlns:p14="http://schemas.microsoft.com/office/powerpoint/2010/main" val="1914054097"/>
      </p:ext>
    </p:extLst>
  </p:cSld>
</p:sld>
</file>

<file path=ppt/slides/slide6.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D9B058-F30D-4E6E-A637-54F2AABC547B}"/>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7C864D9C-A92E-4131-951B-C1ABC18A5E14}"/>
              </a:ext>
            </a:extLst>
          </p:cNvPr>
          <p:cNvSpPr>
            <a:spLocks xmlns:a="http://schemas.openxmlformats.org/drawingml/2006/main" noGrp="1"/>
          </p:cNvSpPr>
          <p:nvPr/>
        </p:nvSpPr>
        <p:spPr>
          <a:xfrm xmlns:a="http://schemas.openxmlformats.org/drawingml/2006/main">
            <a:off x="70485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8E1D3"/>
                </a:solidFill>
                <a:latin typeface="Helvetica Neue"/>
                <a:ea typeface="Helvetica Neue"/>
                <a:cs typeface="Helvetica Neue"/>
              </a:defRPr>
            </a:pPr>
            <a:r>
              <a:rPr sz="2400" b="1">
                <a:solidFill>
                  <a:srgbClr val="A8E1D3"/>
                </a:solidFill>
                <a:latin typeface="Helvetica Neue"/>
                <a:ea typeface="Helvetica Neue"/>
                <a:cs typeface="Helvetica Neue"/>
              </a:rPr>
              <a:t>Better evidence before broader deployment</a:t>
            </a:r>
          </a:p>
        </p:txBody>
      </p:sp>
      <p:sp>
        <p:nvSpPr>
          <p:cNvPr id="3" name="">
            <a:extLst xmlns:a="http://schemas.openxmlformats.org/drawingml/2006/main">
              <a:ext uri="{FF2B5EF4-FFF2-40B4-BE49-F238E27FC236}">
                <a16:creationId xmlns:a16="http://schemas.microsoft.com/office/drawing/2014/main" id="{E28D41B6-8E69-4AFF-8CEF-695CF35AE87E}"/>
              </a:ext>
            </a:extLst>
          </p:cNvPr>
          <p:cNvSpPr>
            <a:spLocks xmlns:a="http://schemas.openxmlformats.org/drawingml/2006/main" noGrp="1"/>
          </p:cNvSpPr>
          <p:nvPr/>
        </p:nvSpPr>
        <p:spPr>
          <a:xfrm xmlns:a="http://schemas.openxmlformats.org/drawingml/2006/main">
            <a:off x="704850" y="2943225"/>
            <a:ext cx="10477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Compare retrieval baselines and test reranking</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Audit section metadata and multi-chunk coverage</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Evaluate claim support and abstention quality</a:t>
            </a:r>
          </a:p>
        </p:txBody>
      </p:sp>
      <p:sp>
        <p:nvSpPr>
          <p:cNvPr id="4" name="">
            <a:extLst xmlns:a="http://schemas.openxmlformats.org/drawingml/2006/main">
              <a:ext uri="{FF2B5EF4-FFF2-40B4-BE49-F238E27FC236}">
                <a16:creationId xmlns:a16="http://schemas.microsoft.com/office/drawing/2014/main" id="{F1F54215-34EB-41DB-B209-56AB318FEAE1}"/>
              </a:ext>
            </a:extLst>
          </p:cNvPr>
          <p:cNvSpPr>
            <a:spLocks xmlns:a="http://schemas.openxmlformats.org/drawingml/2006/main" noGrp="1"/>
          </p:cNvSpPr>
          <p:nvPr/>
        </p:nvSpPr>
        <p:spPr>
          <a:xfrm xmlns:a="http://schemas.openxmlformats.org/drawingml/2006/main">
            <a:off x="704850" y="58769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8E1D3"/>
                </a:solidFill>
                <a:latin typeface="Helvetica Neue"/>
                <a:ea typeface="Helvetica Neue"/>
                <a:cs typeface="Helvetica Neue"/>
              </a:defRPr>
            </a:pPr>
            <a:r>
              <a:rPr sz="1950" b="0">
                <a:solidFill>
                  <a:srgbClr val="A8E1D3"/>
                </a:solidFill>
                <a:latin typeface="Helvetica Neue"/>
                <a:ea typeface="Helvetica Neue"/>
                <a:cs typeface="Helvetica Neue"/>
              </a:rPr>
              <a:t>A working pipeline with measurable retrieval gaps</a:t>
            </a:r>
          </a:p>
        </p:txBody>
      </p:sp>
    </p:spTree>
    <p:extLst>
      <p:ext uri="{BB962C8B-B14F-4D97-AF65-F5344CB8AC3E}">
        <p14:creationId xmlns:p14="http://schemas.microsoft.com/office/powerpoint/2010/main" val="1263571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2026-09-20T19:47:41.9670000Z</dcterms:created>
  <dcterms:modified xsi:type="dcterms:W3CDTF">2026-09-20T19:47:41.9670000Z</dcterms:modified>
</coreProperties>
</file>