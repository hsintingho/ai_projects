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676bc070e348d9" /><Relationship Type="http://schemas.openxmlformats.org/officeDocument/2006/relationships/extended-properties" Target="/docProps/app.xml" Id="Rae62462641f04f25" /><Relationship Type="http://schemas.openxmlformats.org/officeDocument/2006/relationships/officeDocument" Target="/ppt/presentation.xml" Id="R26712931261f4f5b" /></Relationships>
</file>

<file path=ppt/presentation.xml><?xml version="1.0" encoding="utf-8"?>
<p:presentation xmlns:p="http://schemas.openxmlformats.org/presentationml/2006/main">
  <p:sldMasterIdLst>
    <p:sldMasterId xmlns:r="http://schemas.openxmlformats.org/officeDocument/2006/relationships" id="2147483648" r:id="Rcc519cdf938c483c"/>
  </p:sldMasterIdLst>
  <p:notesMasterIdLst>
    <p:notesMasterId xmlns:r="http://schemas.openxmlformats.org/officeDocument/2006/relationships" r:id="Rec773fcb15914bdd"/>
  </p:notesMasterIdLst>
  <p:sldIdLst>
    <p:sldId xmlns:r="http://schemas.openxmlformats.org/officeDocument/2006/relationships" id="256" r:id="R587914ea217442a3"/>
    <p:sldId xmlns:r="http://schemas.openxmlformats.org/officeDocument/2006/relationships" id="257" r:id="R23dc6a5d90574e0e"/>
    <p:sldId xmlns:r="http://schemas.openxmlformats.org/officeDocument/2006/relationships" id="258" r:id="R272382f437b44953"/>
    <p:sldId xmlns:r="http://schemas.openxmlformats.org/officeDocument/2006/relationships" id="259" r:id="R360a9991a7f64877"/>
    <p:sldId xmlns:r="http://schemas.openxmlformats.org/officeDocument/2006/relationships" id="260" r:id="Redd5a309f73541a3"/>
    <p:sldId xmlns:r="http://schemas.openxmlformats.org/officeDocument/2006/relationships" id="261" r:id="R78fa69711cf944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5eee49a3894a2c" /><Relationship Type="http://schemas.openxmlformats.org/officeDocument/2006/relationships/slideMaster" Target="/ppt/slideMasters/slideMaster1.xml" Id="Rcc519cdf938c483c" /><Relationship Type="http://schemas.openxmlformats.org/officeDocument/2006/relationships/notesMaster" Target="/ppt/notesMasters/notesMaster1.xml" Id="Rec773fcb15914bdd" /><Relationship Type="http://schemas.openxmlformats.org/officeDocument/2006/relationships/presProps" Target="/ppt/presProps.xml" Id="Re166c285522647a0" /><Relationship Type="http://schemas.openxmlformats.org/officeDocument/2006/relationships/tableStyles" Target="/ppt/tableStyles.xml" Id="Rc21bda582e294128" /><Relationship Type="http://schemas.openxmlformats.org/officeDocument/2006/relationships/slide" Target="/ppt/slides/slide1.xml" Id="R587914ea217442a3" /><Relationship Type="http://schemas.openxmlformats.org/officeDocument/2006/relationships/slide" Target="/ppt/slides/slide2.xml" Id="R23dc6a5d90574e0e" /><Relationship Type="http://schemas.openxmlformats.org/officeDocument/2006/relationships/slide" Target="/ppt/slides/slide3.xml" Id="R272382f437b44953" /><Relationship Type="http://schemas.openxmlformats.org/officeDocument/2006/relationships/slide" Target="/ppt/slides/slide4.xml" Id="R360a9991a7f64877" /><Relationship Type="http://schemas.openxmlformats.org/officeDocument/2006/relationships/slide" Target="/ppt/slides/slide5.xml" Id="Redd5a309f73541a3" /><Relationship Type="http://schemas.openxmlformats.org/officeDocument/2006/relationships/slide" Target="/ppt/slides/slide6.xml" Id="R78fa69711cf944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625ddbf9e041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3f21d2158e4e33" /><Relationship Type="http://schemas.openxmlformats.org/officeDocument/2006/relationships/notesMaster" Target="/ppt/notesMasters/notesMaster1.xml" Id="R094e98c48f0a44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24a00b120d4d5f" /><Relationship Type="http://schemas.openxmlformats.org/officeDocument/2006/relationships/notesMaster" Target="/ppt/notesMasters/notesMaster1.xml" Id="R13d6a1da14d245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d99629810b476e" /><Relationship Type="http://schemas.openxmlformats.org/officeDocument/2006/relationships/notesMaster" Target="/ppt/notesMasters/notesMaster1.xml" Id="Rd2decea686d647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9aa5a7b9894e7f" /><Relationship Type="http://schemas.openxmlformats.org/officeDocument/2006/relationships/notesMaster" Target="/ppt/notesMasters/notesMaster1.xml" Id="R007d6fa245f943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6dd6942b4b4635" /><Relationship Type="http://schemas.openxmlformats.org/officeDocument/2006/relationships/notesMaster" Target="/ppt/notesMasters/notesMaster1.xml" Id="R4fc5adb5edee47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0c4714ad064499" /><Relationship Type="http://schemas.openxmlformats.org/officeDocument/2006/relationships/notesMaster" Target="/ppt/notesMasters/notesMaster1.xml" Id="Rac920fedaf5244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(35 seconds)</a:t>
            </a:r>
          </a:p>
          <a:p xmlns:a="http://schemas.openxmlformats.org/drawingml/2006/main">
            <a:r>
              <a:t>My project answers questions about the American Express 2025 annual report using retrieval augmented generation, or RAG. The idea is to find relevant passages first, then give those passages to a language model as evidence. Financial reports make this challenging because answers can sit inside tables, footnotes, or several different sections. My goal is to return a useful answer with a traceable source, and to identify where the retrieval step still needs improvement. I'll cover the pipeline, one saved example, and the evaluation results.</a:t>
            </a:r>
          </a:p>
          <a:p xmlns:a="http://schemas.openxmlformats.org/drawingml/2006/main">
            <a:r>
              <a:t/>
            </a:r>
          </a:p>
          <a:p xmlns:a="http://schemas.openxmlformats.org/drawingml/2006/main">
            <a:r>
              <a:t>Project sources: README.md; src/app.py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0:35–1:30 (55 seconds)</a:t>
            </a:r>
          </a:p>
          <a:p xmlns:a="http://schemas.openxmlformats.org/drawingml/2006/main">
            <a:r>
              <a:t>The architecture has four sections. Ingestion parses the annual-report PDF, creates report-aware chunks, embeds their text, and stores vectors with source metadata. Retrieval embeds the user question and combines semantic similarity with BM25-style lexical matching and a phrase boost. It selects five chunks. Follow the arrows into generation: the system builds an evidence context, asks the language model for an answer, checks cited chunk IDs, and saves the answer with its retrieval log. The separate evaluation path runs labeled questions through that same retriever, compares the ranked results with expected chunk IDs, and reports Recall at five, nDCG at five, and mean reciprocal rank. Evaluation measures retrieval quality offline. It is not a gate between retrieval and generation.</a:t>
            </a:r>
          </a:p>
          <a:p xmlns:a="http://schemas.openxmlformats.org/drawingml/2006/main">
            <a:r>
              <a:t/>
            </a:r>
          </a:p>
          <a:p xmlns:a="http://schemas.openxmlformats.org/drawingml/2006/main">
            <a:r>
              <a:t>Project sources: src/ingestion/load_financial_statements.py; src/ingestion/embed_documents.py; src/retrival/semanticSearch.py; src/evaluation/evaluate_search.py; src/generation/prompt.py; src/app.py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1:30–2:20 (50 seconds)</a:t>
            </a:r>
          </a:p>
          <a:p xmlns:a="http://schemas.openxmlformats.org/drawingml/2006/main">
            <a:r>
              <a:t>The retriever combines semantic similarity with lexical matching. Semantic similarity helps when a question uses different wording from the report. BM25-style matching helps preserve exact financial terms and labels. The current ranking formula gives normalized semantic scores a weight of 0.4 and normalized lexical scores a weight of 0.6, then adds an exact-phrase boost. Those are implementation settings, not a claim that the weights are optimal. The retriever returns separate semantic, lexical, and hybrid scores, which makes failures easier to diagnose. For example, a passage can match the words CEO and shareholders while still failing to contain the CEO's message. That is why ranking quality matters even when an answer model can write fluently.</a:t>
            </a:r>
          </a:p>
          <a:p xmlns:a="http://schemas.openxmlformats.org/drawingml/2006/main">
            <a:r>
              <a:t/>
            </a:r>
          </a:p>
          <a:p xmlns:a="http://schemas.openxmlformats.org/drawingml/2006/main">
            <a:r>
              <a:t>Project sources: src/retrival/semanticSearch.py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2:20–3:10 (50 seconds)</a:t>
            </a:r>
          </a:p>
          <a:p xmlns:a="http://schemas.openxmlformats.org/drawingml/2006/main">
            <a:r>
              <a:t>Here is an actual saved run, rather than a hypothetical demo. The user asked what the major revenue generator was in 2025. The generated answer identified discount revenue at 37.4 billion dollars and cited chunk 127 on page 63. That supporting chunk appeared fourth in the retrieved results, so retaining several candidates mattered in this example. The generation prompt asks the model to answer only from the supplied evidence and to say when the context is insufficient. The code also checks whether cited chunk IDs belong to the retrieved evidence. That check helps catch invented IDs, but it does not establish that every claim is supported or that a page label is correct. Claim-level verification remains a useful next step.</a:t>
            </a:r>
          </a:p>
          <a:p xmlns:a="http://schemas.openxmlformats.org/drawingml/2006/main">
            <a:r>
              <a:t/>
            </a:r>
          </a:p>
          <a:p xmlns:a="http://schemas.openxmlformats.org/drawingml/2006/main">
            <a:r>
              <a:t>Project sources: resources/evaluations/results/app/rag_runs.jsonl, 2026-09-11 first record; src/generation/prompt.py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3:10–4:15 (65 seconds)</a:t>
            </a:r>
          </a:p>
          <a:p xmlns:a="http://schemas.openxmlformats.org/drawingml/2006/main">
            <a:r>
              <a:t>The saved development evaluation contains twenty questions, with five in each of four categories. Recall at five is 80 percent for factual questions and keyword questions, 40 percent for ambiguous questions, and 30 percent for questions requiring multiple chunks. Recall measures how much of the labeled relevant evidence appears in the first five results. It is not answer accuracy. These are small category samples, so I treat the numbers as diagnostic evidence rather than a broad performance guarantee. A separate saved run on twenty-four ambiguous questions reports recall at five of about 35.4 percent. The application logs also show the failure mode directly: questions about the CEO's message retrieve board and executive listings, and the answer model abstains. Together, these results point toward query interpretation and evidence coverage as the main areas to improve.</a:t>
            </a:r>
          </a:p>
          <a:p xmlns:a="http://schemas.openxmlformats.org/drawingml/2006/main">
            <a:r>
              <a:t/>
            </a:r>
          </a:p>
          <a:p xmlns:a="http://schemas.openxmlformats.org/drawingml/2006/main">
            <a:r>
              <a:t>Project sources: resources/evaluations/results/dev_v1.txt; resources/evaluations/eval_amex_2025_dev_v1.jsonl; resources/evaluations/results/v1/american_express_2025_ambiguous_eval_metrics.v1.jsonl; resources/evaluations/results/app/rag_runs.jsonl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(45 seconds)</a:t>
            </a:r>
          </a:p>
          <a:p xmlns:a="http://schemas.openxmlformats.org/drawingml/2006/main">
            <a:r>
              <a:t>The project now connects document ingestion, hybrid retrieval, and cited generation in an inspectable workflow. My next priority is improving the evidence that reaches the model. I would compare semantic-only, lexical-only, and hybrid baselines on the same labeled set, then test reranking and query reformulation on ambiguous questions. I would also audit section metadata, because some saved results carry broad or misleading section labels, and test ways to collect evidence across multiple chunks. Finally, I would evaluate whether each answer claim is supported, alongside retrieval metrics and abstention behavior. The main lesson from this project is that grounded generation depends on retrieving the right evidence, and the saved diagnostics make those weaknesses visible.</a:t>
            </a:r>
          </a:p>
          <a:p xmlns:a="http://schemas.openxmlformats.org/drawingml/2006/main">
            <a:r>
              <a:t/>
            </a:r>
          </a:p>
          <a:p xmlns:a="http://schemas.openxmlformats.org/drawingml/2006/main">
            <a:r>
              <a:t>Project sources: Proposed work based on src/retrival/semanticSearch.py; src/generation/prompt.py; saved evaluation and application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dce93cf4304a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bf9de63ac649ed" /><Relationship Type="http://schemas.openxmlformats.org/officeDocument/2006/relationships/slideLayout" Target="/ppt/slideLayouts/slideLayout1.xml" Id="R5c2a1fbcfb934c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2a1fbcfb934c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0bad37c86149ed" /><Relationship Type="http://schemas.openxmlformats.org/officeDocument/2006/relationships/notesSlide" Target="/ppt/notesSlides/notesSlide1.xml" Id="Rb5166b2caac347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f35a20b9ef4a64" /><Relationship Type="http://schemas.openxmlformats.org/officeDocument/2006/relationships/notesSlide" Target="/ppt/notesSlides/notesSlide2.xml" Id="R5c53ad8780b24f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27191a36e74348" /><Relationship Type="http://schemas.openxmlformats.org/officeDocument/2006/relationships/notesSlide" Target="/ppt/notesSlides/notesSlide3.xml" Id="Rcb8dd878991645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408cb0e96d4d49" /><Relationship Type="http://schemas.openxmlformats.org/officeDocument/2006/relationships/notesSlide" Target="/ppt/notesSlides/notesSlide4.xml" Id="Rb0c16b093b574f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8479a3dc4d4549" /><Relationship Type="http://schemas.openxmlformats.org/officeDocument/2006/relationships/notesSlide" Target="/ppt/notesSlides/notesSlide5.xml" Id="R8842b863278a4a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733beed0174f73" /><Relationship Type="http://schemas.openxmlformats.org/officeDocument/2006/relationships/notesSlide" Target="/ppt/notesSlides/notesSlide6.xml" Id="Rd2371256376f46ee" /></Relationships>
</file>

<file path=ppt/slides/slide1.xml><?xml version="1.0" encoding="utf-8"?>
<p:sld xmlns:p="http://schemas.openxmlformats.org/presentationml/2006/main">
  <p:cSld>
    <p:bg>
      <p:bgPr>
        <a:solidFill xmlns:a="http://schemas.openxmlformats.org/drawingml/2006/main">
          <a:srgbClr val="1233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3B8292-40C0-4BE1-B7FA-AD2D0FF67DEA}"/>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Financial Report RAG</a:t>
            </a:r>
          </a:p>
        </p:txBody>
      </p:sp>
      <p:sp>
        <p:nvSpPr>
          <p:cNvPr id="2" name="">
            <a:extLst xmlns:a="http://schemas.openxmlformats.org/drawingml/2006/main">
              <a:ext uri="{FF2B5EF4-FFF2-40B4-BE49-F238E27FC236}">
                <a16:creationId xmlns:a16="http://schemas.microsoft.com/office/drawing/2014/main" id="{B119C194-E6B0-4951-A354-8822F7F581F0}"/>
              </a:ext>
            </a:extLst>
          </p:cNvPr>
          <p:cNvSpPr>
            <a:spLocks xmlns:a="http://schemas.openxmlformats.org/drawingml/2006/main" noGrp="1"/>
          </p:cNvSpPr>
          <p:nvPr/>
        </p:nvSpPr>
        <p:spPr>
          <a:xfrm xmlns:a="http://schemas.openxmlformats.org/drawingml/2006/main">
            <a:off x="723900" y="2238375"/>
            <a:ext cx="990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E1D3"/>
                </a:solidFill>
                <a:latin typeface="Helvetica Neue"/>
                <a:ea typeface="Helvetica Neue"/>
                <a:cs typeface="Helvetica Neue"/>
              </a:defRPr>
            </a:pPr>
            <a:r>
              <a:rPr sz="3000" b="0">
                <a:solidFill>
                  <a:srgbClr val="A8E1D3"/>
                </a:solidFill>
                <a:latin typeface="Helvetica Neue"/>
                <a:ea typeface="Helvetica Neue"/>
                <a:cs typeface="Helvetica Neue"/>
              </a:rPr>
              <a:t>Questions answered with report evidence</a:t>
            </a:r>
          </a:p>
        </p:txBody>
      </p:sp>
      <p:sp>
        <p:nvSpPr>
          <p:cNvPr id="3" name="">
            <a:extLst xmlns:a="http://schemas.openxmlformats.org/drawingml/2006/main">
              <a:ext uri="{FF2B5EF4-FFF2-40B4-BE49-F238E27FC236}">
                <a16:creationId xmlns:a16="http://schemas.microsoft.com/office/drawing/2014/main" id="{5EEE647B-D85D-448C-94C0-44ABDDB94E7E}"/>
              </a:ext>
            </a:extLst>
          </p:cNvPr>
          <p:cNvSpPr>
            <a:spLocks xmlns:a="http://schemas.openxmlformats.org/drawingml/2006/main" noGrp="1"/>
          </p:cNvSpPr>
          <p:nvPr/>
        </p:nvSpPr>
        <p:spPr>
          <a:xfrm xmlns:a="http://schemas.openxmlformats.org/drawingml/2006/main">
            <a:off x="723900" y="3667125"/>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American Express 2025 annual report</a:t>
            </a:r>
          </a:p>
        </p:txBody>
      </p:sp>
      <p:sp>
        <p:nvSpPr>
          <p:cNvPr id="4" name="">
            <a:extLst xmlns:a="http://schemas.openxmlformats.org/drawingml/2006/main">
              <a:ext uri="{FF2B5EF4-FFF2-40B4-BE49-F238E27FC236}">
                <a16:creationId xmlns:a16="http://schemas.microsoft.com/office/drawing/2014/main" id="{F5C5E701-C8DE-4A7A-B12C-2E6C6697911B}"/>
              </a:ext>
            </a:extLst>
          </p:cNvPr>
          <p:cNvSpPr>
            <a:spLocks xmlns:a="http://schemas.openxmlformats.org/drawingml/2006/main" noGrp="1"/>
          </p:cNvSpPr>
          <p:nvPr/>
        </p:nvSpPr>
        <p:spPr>
          <a:xfrm xmlns:a="http://schemas.openxmlformats.org/drawingml/2006/main">
            <a:off x="723900" y="4295775"/>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Hybrid retrieval + cited generation</a:t>
            </a:r>
          </a:p>
        </p:txBody>
      </p:sp>
    </p:spTree>
    <p:extLst>
      <p:ext uri="{BB962C8B-B14F-4D97-AF65-F5344CB8AC3E}">
        <p14:creationId xmlns:p14="http://schemas.microsoft.com/office/powerpoint/2010/main" val="875046589"/>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8AE879F-16C1-457E-98B3-C313CEBDB782}"/>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The pipeline</a:t>
            </a:r>
          </a:p>
        </p:txBody>
      </p:sp>
      <p:sp>
        <p:nvSpPr>
          <p:cNvPr id="2" name="">
            <a:extLst xmlns:a="http://schemas.openxmlformats.org/drawingml/2006/main">
              <a:ext uri="{FF2B5EF4-FFF2-40B4-BE49-F238E27FC236}">
                <a16:creationId xmlns:a16="http://schemas.microsoft.com/office/drawing/2014/main" id="{D10E8A5E-FB55-4277-8BB8-397D6BFA4CF3}"/>
              </a:ext>
            </a:extLst>
          </p:cNvPr>
          <p:cNvSpPr>
            <a:spLocks xmlns:a="http://schemas.openxmlformats.org/drawingml/2006/main" noGrp="1"/>
          </p:cNvSpPr>
          <p:nvPr/>
        </p:nvSpPr>
        <p:spPr>
          <a:xfrm xmlns:a="http://schemas.openxmlformats.org/drawingml/2006/main">
            <a:off x="685800" y="16764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Ingestion</a:t>
            </a:r>
          </a:p>
        </p:txBody>
      </p:sp>
      <p:sp>
        <p:nvSpPr>
          <p:cNvPr id="3" name="">
            <a:extLst xmlns:a="http://schemas.openxmlformats.org/drawingml/2006/main">
              <a:ext uri="{FF2B5EF4-FFF2-40B4-BE49-F238E27FC236}">
                <a16:creationId xmlns:a16="http://schemas.microsoft.com/office/drawing/2014/main" id="{661F0ADF-09BF-4806-ABA5-A42578AFAD35}"/>
              </a:ext>
            </a:extLst>
          </p:cNvPr>
          <p:cNvSpPr>
            <a:spLocks xmlns:a="http://schemas.openxmlformats.org/drawingml/2006/main" noGrp="1"/>
          </p:cNvSpPr>
          <p:nvPr/>
        </p:nvSpPr>
        <p:spPr>
          <a:xfrm xmlns:a="http://schemas.openxmlformats.org/drawingml/2006/main">
            <a:off x="26479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Parse report PDF</a:t>
            </a:r>
          </a:p>
        </p:txBody>
      </p:sp>
      <p:sp>
        <p:nvSpPr>
          <p:cNvPr id="4" name="">
            <a:extLst xmlns:a="http://schemas.openxmlformats.org/drawingml/2006/main">
              <a:ext uri="{FF2B5EF4-FFF2-40B4-BE49-F238E27FC236}">
                <a16:creationId xmlns:a16="http://schemas.microsoft.com/office/drawing/2014/main" id="{71401587-5C5C-433E-8EBD-7109757EF7DA}"/>
              </a:ext>
            </a:extLst>
          </p:cNvPr>
          <p:cNvSpPr>
            <a:spLocks xmlns:a="http://schemas.openxmlformats.org/drawingml/2006/main" noGrp="1"/>
          </p:cNvSpPr>
          <p:nvPr/>
        </p:nvSpPr>
        <p:spPr>
          <a:xfrm xmlns:a="http://schemas.openxmlformats.org/drawingml/2006/main">
            <a:off x="48577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Chunk + metadata</a:t>
            </a:r>
          </a:p>
        </p:txBody>
      </p:sp>
      <p:sp>
        <p:nvSpPr>
          <p:cNvPr id="5" name="">
            <a:extLst xmlns:a="http://schemas.openxmlformats.org/drawingml/2006/main">
              <a:ext uri="{FF2B5EF4-FFF2-40B4-BE49-F238E27FC236}">
                <a16:creationId xmlns:a16="http://schemas.microsoft.com/office/drawing/2014/main" id="{F0782C4D-96EB-4DE2-B7B8-2E0F9BEE68C6}"/>
              </a:ext>
            </a:extLst>
          </p:cNvPr>
          <p:cNvSpPr>
            <a:spLocks xmlns:a="http://schemas.openxmlformats.org/drawingml/2006/main" noGrp="1"/>
          </p:cNvSpPr>
          <p:nvPr/>
        </p:nvSpPr>
        <p:spPr>
          <a:xfrm xmlns:a="http://schemas.openxmlformats.org/drawingml/2006/main">
            <a:off x="7067550" y="160020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Embed chunks</a:t>
            </a:r>
          </a:p>
        </p:txBody>
      </p:sp>
      <p:sp>
        <p:nvSpPr>
          <p:cNvPr id="6" name="">
            <a:extLst xmlns:a="http://schemas.openxmlformats.org/drawingml/2006/main">
              <a:ext uri="{FF2B5EF4-FFF2-40B4-BE49-F238E27FC236}">
                <a16:creationId xmlns:a16="http://schemas.microsoft.com/office/drawing/2014/main" id="{77A36B73-47DC-460A-90B3-311AECC7AB38}"/>
              </a:ext>
            </a:extLst>
          </p:cNvPr>
          <p:cNvSpPr>
            <a:spLocks xmlns:a="http://schemas.openxmlformats.org/drawingml/2006/main" noGrp="1"/>
          </p:cNvSpPr>
          <p:nvPr/>
        </p:nvSpPr>
        <p:spPr>
          <a:xfrm xmlns:a="http://schemas.openxmlformats.org/drawingml/2006/main">
            <a:off x="9277350" y="160020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Vectors + metadata</a:t>
            </a:r>
          </a:p>
        </p:txBody>
      </p:sp>
      <p:cxnSp>
        <p:nvCxnSpPr>
          <p:cNvPr id="44" name=""/>
          <p:cNvCxnSpPr>
            <a:stCxn xmlns:a="http://schemas.openxmlformats.org/drawingml/2006/main" id="3" idx="3"/>
            <a:endCxn xmlns:a="http://schemas.openxmlformats.org/drawingml/2006/main" id="4" idx="1"/>
          </p:cNvCxnSpPr>
          <p:nvPr/>
        </p:nvCxnSpPr>
        <p:spPr>
          <a:xfrm xmlns:a="http://schemas.openxmlformats.org/drawingml/2006/main">
            <a:off x="4572000" y="191452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cxnSp>
        <p:nvCxnSpPr>
          <p:cNvPr id="45" name=""/>
          <p:cNvCxnSpPr>
            <a:stCxn xmlns:a="http://schemas.openxmlformats.org/drawingml/2006/main" id="4" idx="3"/>
            <a:endCxn xmlns:a="http://schemas.openxmlformats.org/drawingml/2006/main" id="5" idx="1"/>
          </p:cNvCxnSpPr>
          <p:nvPr/>
        </p:nvCxnSpPr>
        <p:spPr>
          <a:xfrm xmlns:a="http://schemas.openxmlformats.org/drawingml/2006/main">
            <a:off x="6781800" y="191452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cxnSp>
        <p:nvCxnSpPr>
          <p:cNvPr id="46" name=""/>
          <p:cNvCxnSpPr>
            <a:stCxn xmlns:a="http://schemas.openxmlformats.org/drawingml/2006/main" id="5" idx="3"/>
            <a:endCxn xmlns:a="http://schemas.openxmlformats.org/drawingml/2006/main" id="6" idx="1"/>
          </p:cNvCxnSpPr>
          <p:nvPr/>
        </p:nvCxnSpPr>
        <p:spPr>
          <a:xfrm xmlns:a="http://schemas.openxmlformats.org/drawingml/2006/main">
            <a:off x="8991600" y="191452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sp>
        <p:nvSpPr>
          <p:cNvPr id="10" name="">
            <a:extLst xmlns:a="http://schemas.openxmlformats.org/drawingml/2006/main">
              <a:ext uri="{FF2B5EF4-FFF2-40B4-BE49-F238E27FC236}">
                <a16:creationId xmlns:a16="http://schemas.microsoft.com/office/drawing/2014/main" id="{29608D33-979B-4341-B433-074A5F1FD2F9}"/>
              </a:ext>
            </a:extLst>
          </p:cNvPr>
          <p:cNvSpPr>
            <a:spLocks xmlns:a="http://schemas.openxmlformats.org/drawingml/2006/main" noGrp="1"/>
          </p:cNvSpPr>
          <p:nvPr/>
        </p:nvSpPr>
        <p:spPr>
          <a:xfrm xmlns:a="http://schemas.openxmlformats.org/drawingml/2006/main">
            <a:off x="685800" y="287655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Retrieval</a:t>
            </a:r>
          </a:p>
        </p:txBody>
      </p:sp>
      <p:sp>
        <p:nvSpPr>
          <p:cNvPr id="11" name="">
            <a:extLst xmlns:a="http://schemas.openxmlformats.org/drawingml/2006/main">
              <a:ext uri="{FF2B5EF4-FFF2-40B4-BE49-F238E27FC236}">
                <a16:creationId xmlns:a16="http://schemas.microsoft.com/office/drawing/2014/main" id="{70E214B4-BDB1-4564-BB7D-899273D8FB15}"/>
              </a:ext>
            </a:extLst>
          </p:cNvPr>
          <p:cNvSpPr>
            <a:spLocks xmlns:a="http://schemas.openxmlformats.org/drawingml/2006/main" noGrp="1"/>
          </p:cNvSpPr>
          <p:nvPr/>
        </p:nvSpPr>
        <p:spPr>
          <a:xfrm xmlns:a="http://schemas.openxmlformats.org/drawingml/2006/main">
            <a:off x="26479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User question</a:t>
            </a:r>
          </a:p>
        </p:txBody>
      </p:sp>
      <p:sp>
        <p:nvSpPr>
          <p:cNvPr id="12" name="">
            <a:extLst xmlns:a="http://schemas.openxmlformats.org/drawingml/2006/main">
              <a:ext uri="{FF2B5EF4-FFF2-40B4-BE49-F238E27FC236}">
                <a16:creationId xmlns:a16="http://schemas.microsoft.com/office/drawing/2014/main" id="{B5C8A230-5C90-4AE7-AA77-5683D2DC66D4}"/>
              </a:ext>
            </a:extLst>
          </p:cNvPr>
          <p:cNvSpPr>
            <a:spLocks xmlns:a="http://schemas.openxmlformats.org/drawingml/2006/main" noGrp="1"/>
          </p:cNvSpPr>
          <p:nvPr/>
        </p:nvSpPr>
        <p:spPr>
          <a:xfrm xmlns:a="http://schemas.openxmlformats.org/drawingml/2006/main">
            <a:off x="48577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Embed query</a:t>
            </a:r>
          </a:p>
        </p:txBody>
      </p:sp>
      <p:sp>
        <p:nvSpPr>
          <p:cNvPr id="13" name="">
            <a:extLst xmlns:a="http://schemas.openxmlformats.org/drawingml/2006/main">
              <a:ext uri="{FF2B5EF4-FFF2-40B4-BE49-F238E27FC236}">
                <a16:creationId xmlns:a16="http://schemas.microsoft.com/office/drawing/2014/main" id="{FE8326D0-2B6A-4DDF-98E6-630D77712F84}"/>
              </a:ext>
            </a:extLst>
          </p:cNvPr>
          <p:cNvSpPr>
            <a:spLocks xmlns:a="http://schemas.openxmlformats.org/drawingml/2006/main" noGrp="1"/>
          </p:cNvSpPr>
          <p:nvPr/>
        </p:nvSpPr>
        <p:spPr>
          <a:xfrm xmlns:a="http://schemas.openxmlformats.org/drawingml/2006/main">
            <a:off x="7067550" y="2800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Hybrid search</a:t>
            </a:r>
          </a:p>
        </p:txBody>
      </p:sp>
      <p:sp>
        <p:nvSpPr>
          <p:cNvPr id="14" name="">
            <a:extLst xmlns:a="http://schemas.openxmlformats.org/drawingml/2006/main">
              <a:ext uri="{FF2B5EF4-FFF2-40B4-BE49-F238E27FC236}">
                <a16:creationId xmlns:a16="http://schemas.microsoft.com/office/drawing/2014/main" id="{4E56BF86-89D4-4CEF-A748-2697604B56FC}"/>
              </a:ext>
            </a:extLst>
          </p:cNvPr>
          <p:cNvSpPr>
            <a:spLocks xmlns:a="http://schemas.openxmlformats.org/drawingml/2006/main" noGrp="1"/>
          </p:cNvSpPr>
          <p:nvPr/>
        </p:nvSpPr>
        <p:spPr>
          <a:xfrm xmlns:a="http://schemas.openxmlformats.org/drawingml/2006/main">
            <a:off x="9277350" y="28003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Top 5 chunks</a:t>
            </a:r>
          </a:p>
        </p:txBody>
      </p:sp>
      <p:cxnSp>
        <p:nvCxnSpPr>
          <p:cNvPr id="52" name=""/>
          <p:cNvCxnSpPr>
            <a:stCxn xmlns:a="http://schemas.openxmlformats.org/drawingml/2006/main" id="11" idx="3"/>
            <a:endCxn xmlns:a="http://schemas.openxmlformats.org/drawingml/2006/main" id="12" idx="1"/>
          </p:cNvCxnSpPr>
          <p:nvPr/>
        </p:nvCxnSpPr>
        <p:spPr>
          <a:xfrm xmlns:a="http://schemas.openxmlformats.org/drawingml/2006/main">
            <a:off x="4572000" y="311467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cxnSp>
        <p:nvCxnSpPr>
          <p:cNvPr id="53" name=""/>
          <p:cNvCxnSpPr>
            <a:stCxn xmlns:a="http://schemas.openxmlformats.org/drawingml/2006/main" id="12" idx="3"/>
            <a:endCxn xmlns:a="http://schemas.openxmlformats.org/drawingml/2006/main" id="13" idx="1"/>
          </p:cNvCxnSpPr>
          <p:nvPr/>
        </p:nvCxnSpPr>
        <p:spPr>
          <a:xfrm xmlns:a="http://schemas.openxmlformats.org/drawingml/2006/main">
            <a:off x="6781800" y="311467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cxnSp>
        <p:nvCxnSpPr>
          <p:cNvPr id="54" name=""/>
          <p:cNvCxnSpPr>
            <a:stCxn xmlns:a="http://schemas.openxmlformats.org/drawingml/2006/main" id="13" idx="3"/>
            <a:endCxn xmlns:a="http://schemas.openxmlformats.org/drawingml/2006/main" id="14" idx="1"/>
          </p:cNvCxnSpPr>
          <p:nvPr/>
        </p:nvCxnSpPr>
        <p:spPr>
          <a:xfrm xmlns:a="http://schemas.openxmlformats.org/drawingml/2006/main">
            <a:off x="8991600" y="311467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cxnSp>
        <p:nvCxnSpPr>
          <p:cNvPr id="55" name=""/>
          <p:cNvCxnSpPr>
            <a:stCxn xmlns:a="http://schemas.openxmlformats.org/drawingml/2006/main" id="6" idx="2"/>
            <a:endCxn xmlns:a="http://schemas.openxmlformats.org/drawingml/2006/main" id="13" idx="0"/>
          </p:cNvCxnSpPr>
          <p:nvPr/>
        </p:nvCxnSpPr>
        <p:spPr>
          <a:xfrm xmlns:a="http://schemas.openxmlformats.org/drawingml/2006/main" flipH="1">
            <a:off x="8029575" y="2228850"/>
            <a:ext cx="2209800" cy="571500"/>
          </a:xfrm>
          <a:prstGeom xmlns:a="http://schemas.openxmlformats.org/drawingml/2006/main" prst="bentConnector4">
            <a:avLst>
              <a:gd name="adj1" fmla="val 0"/>
              <a:gd name="adj2" fmla="val 50000"/>
            </a:avLst>
          </a:prstGeom>
          <a:ln xmlns:a="http://schemas.openxmlformats.org/drawingml/2006/main" w="19050">
            <a:solidFill>
              <a:srgbClr val="167C72"/>
            </a:solidFill>
            <a:headEnd type="triangle" w="med" len="med"/>
          </a:ln>
        </p:spPr>
      </p:cxnSp>
      <p:sp>
        <p:nvSpPr>
          <p:cNvPr id="19" name="">
            <a:extLst xmlns:a="http://schemas.openxmlformats.org/drawingml/2006/main">
              <a:ext uri="{FF2B5EF4-FFF2-40B4-BE49-F238E27FC236}">
                <a16:creationId xmlns:a16="http://schemas.microsoft.com/office/drawing/2014/main" id="{41897A92-E198-4BE7-8A1A-F2810D1BB122}"/>
              </a:ext>
            </a:extLst>
          </p:cNvPr>
          <p:cNvSpPr>
            <a:spLocks xmlns:a="http://schemas.openxmlformats.org/drawingml/2006/main" noGrp="1"/>
          </p:cNvSpPr>
          <p:nvPr/>
        </p:nvSpPr>
        <p:spPr>
          <a:xfrm xmlns:a="http://schemas.openxmlformats.org/drawingml/2006/main">
            <a:off x="4886325" y="3486150"/>
            <a:ext cx="6315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7C72"/>
                </a:solidFill>
                <a:latin typeface="Helvetica Neue"/>
                <a:ea typeface="Helvetica Neue"/>
                <a:cs typeface="Helvetica Neue"/>
              </a:defRPr>
            </a:pPr>
            <a:r>
              <a:rPr sz="1575" b="0">
                <a:solidFill>
                  <a:srgbClr val="167C72"/>
                </a:solidFill>
                <a:latin typeface="Helvetica Neue"/>
                <a:ea typeface="Helvetica Neue"/>
                <a:cs typeface="Helvetica Neue"/>
              </a:rPr>
              <a:t>Semantic similarity + BM25 + phrase boost</a:t>
            </a:r>
          </a:p>
        </p:txBody>
      </p:sp>
      <p:sp>
        <p:nvSpPr>
          <p:cNvPr id="20" name="">
            <a:extLst xmlns:a="http://schemas.openxmlformats.org/drawingml/2006/main">
              <a:ext uri="{FF2B5EF4-FFF2-40B4-BE49-F238E27FC236}">
                <a16:creationId xmlns:a16="http://schemas.microsoft.com/office/drawing/2014/main" id="{F42F09EE-B783-491F-A7C6-1A434390155E}"/>
              </a:ext>
            </a:extLst>
          </p:cNvPr>
          <p:cNvSpPr>
            <a:spLocks xmlns:a="http://schemas.openxmlformats.org/drawingml/2006/main" noGrp="1"/>
          </p:cNvSpPr>
          <p:nvPr/>
        </p:nvSpPr>
        <p:spPr>
          <a:xfrm xmlns:a="http://schemas.openxmlformats.org/drawingml/2006/main">
            <a:off x="685800" y="42100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Generation</a:t>
            </a:r>
          </a:p>
        </p:txBody>
      </p:sp>
      <p:sp>
        <p:nvSpPr>
          <p:cNvPr id="21" name="">
            <a:extLst xmlns:a="http://schemas.openxmlformats.org/drawingml/2006/main">
              <a:ext uri="{FF2B5EF4-FFF2-40B4-BE49-F238E27FC236}">
                <a16:creationId xmlns:a16="http://schemas.microsoft.com/office/drawing/2014/main" id="{1EB9ED1C-FDD8-4373-AAA1-C8E0C1E8516F}"/>
              </a:ext>
            </a:extLst>
          </p:cNvPr>
          <p:cNvSpPr>
            <a:spLocks xmlns:a="http://schemas.openxmlformats.org/drawingml/2006/main" noGrp="1"/>
          </p:cNvSpPr>
          <p:nvPr/>
        </p:nvSpPr>
        <p:spPr>
          <a:xfrm xmlns:a="http://schemas.openxmlformats.org/drawingml/2006/main">
            <a:off x="92773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Build context</a:t>
            </a:r>
          </a:p>
        </p:txBody>
      </p:sp>
      <p:sp>
        <p:nvSpPr>
          <p:cNvPr id="22" name="">
            <a:extLst xmlns:a="http://schemas.openxmlformats.org/drawingml/2006/main">
              <a:ext uri="{FF2B5EF4-FFF2-40B4-BE49-F238E27FC236}">
                <a16:creationId xmlns:a16="http://schemas.microsoft.com/office/drawing/2014/main" id="{1E278F3E-4FC1-477D-A242-937876901372}"/>
              </a:ext>
            </a:extLst>
          </p:cNvPr>
          <p:cNvSpPr>
            <a:spLocks xmlns:a="http://schemas.openxmlformats.org/drawingml/2006/main" noGrp="1"/>
          </p:cNvSpPr>
          <p:nvPr/>
        </p:nvSpPr>
        <p:spPr>
          <a:xfrm xmlns:a="http://schemas.openxmlformats.org/drawingml/2006/main">
            <a:off x="70675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LLM answer</a:t>
            </a:r>
          </a:p>
        </p:txBody>
      </p:sp>
      <p:sp>
        <p:nvSpPr>
          <p:cNvPr id="23" name="">
            <a:extLst xmlns:a="http://schemas.openxmlformats.org/drawingml/2006/main">
              <a:ext uri="{FF2B5EF4-FFF2-40B4-BE49-F238E27FC236}">
                <a16:creationId xmlns:a16="http://schemas.microsoft.com/office/drawing/2014/main" id="{259E91B3-35B9-4244-AAF1-6A38D72ACDBC}"/>
              </a:ext>
            </a:extLst>
          </p:cNvPr>
          <p:cNvSpPr>
            <a:spLocks xmlns:a="http://schemas.openxmlformats.org/drawingml/2006/main" noGrp="1"/>
          </p:cNvSpPr>
          <p:nvPr/>
        </p:nvSpPr>
        <p:spPr>
          <a:xfrm xmlns:a="http://schemas.openxmlformats.org/drawingml/2006/main">
            <a:off x="4857750" y="41338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Check citation IDs</a:t>
            </a:r>
          </a:p>
        </p:txBody>
      </p:sp>
      <p:sp>
        <p:nvSpPr>
          <p:cNvPr id="24" name="">
            <a:extLst xmlns:a="http://schemas.openxmlformats.org/drawingml/2006/main">
              <a:ext uri="{FF2B5EF4-FFF2-40B4-BE49-F238E27FC236}">
                <a16:creationId xmlns:a16="http://schemas.microsoft.com/office/drawing/2014/main" id="{750DF11B-2939-41F6-B0E3-F3AF14389B1B}"/>
              </a:ext>
            </a:extLst>
          </p:cNvPr>
          <p:cNvSpPr>
            <a:spLocks xmlns:a="http://schemas.openxmlformats.org/drawingml/2006/main" noGrp="1"/>
          </p:cNvSpPr>
          <p:nvPr/>
        </p:nvSpPr>
        <p:spPr>
          <a:xfrm xmlns:a="http://schemas.openxmlformats.org/drawingml/2006/main">
            <a:off x="2647950" y="41338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Answer + run log</a:t>
            </a:r>
          </a:p>
        </p:txBody>
      </p:sp>
      <p:cxnSp>
        <p:nvCxnSpPr>
          <p:cNvPr id="62" name=""/>
          <p:cNvCxnSpPr>
            <a:stCxn xmlns:a="http://schemas.openxmlformats.org/drawingml/2006/main" id="14" idx="2"/>
            <a:endCxn xmlns:a="http://schemas.openxmlformats.org/drawingml/2006/main" id="21" idx="0"/>
          </p:cNvCxnSpPr>
          <p:nvPr/>
        </p:nvCxnSpPr>
        <p:spPr>
          <a:xfrm xmlns:a="http://schemas.openxmlformats.org/drawingml/2006/main">
            <a:off x="10239375" y="3429000"/>
            <a:ext cx="0" cy="704850"/>
          </a:xfrm>
          <a:prstGeom xmlns:a="http://schemas.openxmlformats.org/drawingml/2006/main" prst="straightConnector1">
            <a:avLst/>
          </a:prstGeom>
          <a:ln xmlns:a="http://schemas.openxmlformats.org/drawingml/2006/main" w="19050">
            <a:solidFill>
              <a:srgbClr val="167C72"/>
            </a:solidFill>
            <a:headEnd type="triangle" w="med" len="med"/>
          </a:ln>
        </p:spPr>
      </p:cxnSp>
      <p:cxnSp>
        <p:nvCxnSpPr>
          <p:cNvPr id="63" name=""/>
          <p:cNvCxnSpPr>
            <a:stCxn xmlns:a="http://schemas.openxmlformats.org/drawingml/2006/main" id="21" idx="1"/>
            <a:endCxn xmlns:a="http://schemas.openxmlformats.org/drawingml/2006/main" id="22" idx="3"/>
          </p:cNvCxnSpPr>
          <p:nvPr/>
        </p:nvCxnSpPr>
        <p:spPr>
          <a:xfrm xmlns:a="http://schemas.openxmlformats.org/drawingml/2006/main" flipH="1">
            <a:off x="8991600" y="444817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cxnSp>
        <p:nvCxnSpPr>
          <p:cNvPr id="64" name=""/>
          <p:cNvCxnSpPr>
            <a:stCxn xmlns:a="http://schemas.openxmlformats.org/drawingml/2006/main" id="22" idx="1"/>
            <a:endCxn xmlns:a="http://schemas.openxmlformats.org/drawingml/2006/main" id="23" idx="3"/>
          </p:cNvCxnSpPr>
          <p:nvPr/>
        </p:nvCxnSpPr>
        <p:spPr>
          <a:xfrm xmlns:a="http://schemas.openxmlformats.org/drawingml/2006/main" flipH="1">
            <a:off x="6781800" y="444817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cxnSp>
        <p:nvCxnSpPr>
          <p:cNvPr id="65" name=""/>
          <p:cNvCxnSpPr>
            <a:stCxn xmlns:a="http://schemas.openxmlformats.org/drawingml/2006/main" id="23" idx="1"/>
            <a:endCxn xmlns:a="http://schemas.openxmlformats.org/drawingml/2006/main" id="24" idx="3"/>
          </p:cNvCxnSpPr>
          <p:nvPr/>
        </p:nvCxnSpPr>
        <p:spPr>
          <a:xfrm xmlns:a="http://schemas.openxmlformats.org/drawingml/2006/main" flipH="1">
            <a:off x="4572000" y="444817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sp>
        <p:nvSpPr>
          <p:cNvPr id="29" name="">
            <a:extLst xmlns:a="http://schemas.openxmlformats.org/drawingml/2006/main">
              <a:ext uri="{FF2B5EF4-FFF2-40B4-BE49-F238E27FC236}">
                <a16:creationId xmlns:a16="http://schemas.microsoft.com/office/drawing/2014/main" id="{06326BBE-0C94-4B13-844D-48608DAF7200}"/>
              </a:ext>
            </a:extLst>
          </p:cNvPr>
          <p:cNvSpPr>
            <a:spLocks xmlns:a="http://schemas.openxmlformats.org/drawingml/2006/main" noGrp="1"/>
          </p:cNvSpPr>
          <p:nvPr/>
        </p:nvSpPr>
        <p:spPr>
          <a:xfrm xmlns:a="http://schemas.openxmlformats.org/drawingml/2006/main">
            <a:off x="685800" y="5543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Evaluation</a:t>
            </a:r>
          </a:p>
        </p:txBody>
      </p:sp>
      <p:sp>
        <p:nvSpPr>
          <p:cNvPr id="30" name="">
            <a:extLst xmlns:a="http://schemas.openxmlformats.org/drawingml/2006/main">
              <a:ext uri="{FF2B5EF4-FFF2-40B4-BE49-F238E27FC236}">
                <a16:creationId xmlns:a16="http://schemas.microsoft.com/office/drawing/2014/main" id="{BA3F09FA-421E-4174-8C90-D2AB951AE50C}"/>
              </a:ext>
            </a:extLst>
          </p:cNvPr>
          <p:cNvSpPr>
            <a:spLocks xmlns:a="http://schemas.openxmlformats.org/drawingml/2006/main" noGrp="1"/>
          </p:cNvSpPr>
          <p:nvPr/>
        </p:nvSpPr>
        <p:spPr>
          <a:xfrm xmlns:a="http://schemas.openxmlformats.org/drawingml/2006/main">
            <a:off x="26479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Labeled queries</a:t>
            </a:r>
          </a:p>
        </p:txBody>
      </p:sp>
      <p:sp>
        <p:nvSpPr>
          <p:cNvPr id="31" name="">
            <a:extLst xmlns:a="http://schemas.openxmlformats.org/drawingml/2006/main">
              <a:ext uri="{FF2B5EF4-FFF2-40B4-BE49-F238E27FC236}">
                <a16:creationId xmlns:a16="http://schemas.microsoft.com/office/drawing/2014/main" id="{D8D9EC3A-1262-4CBD-8789-C6C3093D2ED6}"/>
              </a:ext>
            </a:extLst>
          </p:cNvPr>
          <p:cNvSpPr>
            <a:spLocks xmlns:a="http://schemas.openxmlformats.org/drawingml/2006/main" noGrp="1"/>
          </p:cNvSpPr>
          <p:nvPr/>
        </p:nvSpPr>
        <p:spPr>
          <a:xfrm xmlns:a="http://schemas.openxmlformats.org/drawingml/2006/main">
            <a:off x="48577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Run retrieval</a:t>
            </a:r>
          </a:p>
        </p:txBody>
      </p:sp>
      <p:sp>
        <p:nvSpPr>
          <p:cNvPr id="32" name="">
            <a:extLst xmlns:a="http://schemas.openxmlformats.org/drawingml/2006/main">
              <a:ext uri="{FF2B5EF4-FFF2-40B4-BE49-F238E27FC236}">
                <a16:creationId xmlns:a16="http://schemas.microsoft.com/office/drawing/2014/main" id="{75B28172-44DD-4A49-847B-9F94BA89327C}"/>
              </a:ext>
            </a:extLst>
          </p:cNvPr>
          <p:cNvSpPr>
            <a:spLocks xmlns:a="http://schemas.openxmlformats.org/drawingml/2006/main" noGrp="1"/>
          </p:cNvSpPr>
          <p:nvPr/>
        </p:nvSpPr>
        <p:spPr>
          <a:xfrm xmlns:a="http://schemas.openxmlformats.org/drawingml/2006/main">
            <a:off x="7067550" y="5467350"/>
            <a:ext cx="19240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Compare gold IDs</a:t>
            </a:r>
          </a:p>
        </p:txBody>
      </p:sp>
      <p:sp>
        <p:nvSpPr>
          <p:cNvPr id="33" name="">
            <a:extLst xmlns:a="http://schemas.openxmlformats.org/drawingml/2006/main">
              <a:ext uri="{FF2B5EF4-FFF2-40B4-BE49-F238E27FC236}">
                <a16:creationId xmlns:a16="http://schemas.microsoft.com/office/drawing/2014/main" id="{03E59D7B-8C55-469A-956F-9E309FC78997}"/>
              </a:ext>
            </a:extLst>
          </p:cNvPr>
          <p:cNvSpPr>
            <a:spLocks xmlns:a="http://schemas.openxmlformats.org/drawingml/2006/main" noGrp="1"/>
          </p:cNvSpPr>
          <p:nvPr/>
        </p:nvSpPr>
        <p:spPr>
          <a:xfrm xmlns:a="http://schemas.openxmlformats.org/drawingml/2006/main">
            <a:off x="9277350" y="5467350"/>
            <a:ext cx="1924050" cy="628650"/>
          </a:xfrm>
          <a:prstGeom xmlns:a="http://schemas.openxmlformats.org/drawingml/2006/main" prst="roundRect">
            <a:avLst>
              <a:gd name="adj" fmla="val 12121"/>
            </a:avLst>
          </a:prstGeom>
          <a:solidFill xmlns:a="http://schemas.openxmlformats.org/drawingml/2006/main">
            <a:srgbClr val="DEF0EA"/>
          </a:solidFill>
          <a:ln xmlns:a="http://schemas.openxmlformats.org/drawingml/2006/main" w="14288">
            <a:solidFill>
              <a:srgbClr val="167C72"/>
            </a:solidFill>
          </a:ln>
        </p:spPr>
        <p:txBody>
          <a:bodyPr xmlns:a="http://schemas.openxmlformats.org/drawingml/2006/main" anchor="ctr">
            <a:noAutofit/>
          </a:bodyPr>
          <a:lstStyle xmlns:a="http://schemas.openxmlformats.org/drawingml/2006/main"/>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Recall@5, nDCG@5</a:t>
            </a:r>
          </a:p>
          <a:p xmlns:a="http://schemas.openxmlformats.org/drawingml/2006/main">
            <a:pPr algn="ctr">
              <a:defRPr sz="1725">
                <a:solidFill>
                  <a:srgbClr val="183848"/>
                </a:solidFill>
                <a:latin typeface="Helvetica Neue"/>
                <a:ea typeface="Helvetica Neue"/>
                <a:cs typeface="Helvetica Neue"/>
              </a:defRPr>
            </a:pPr>
            <a:r>
              <a:rPr sz="1725">
                <a:solidFill>
                  <a:srgbClr val="183848"/>
                </a:solidFill>
                <a:latin typeface="Helvetica Neue"/>
                <a:ea typeface="Helvetica Neue"/>
                <a:cs typeface="Helvetica Neue"/>
              </a:rPr>
              <a:t>MRR</a:t>
            </a:r>
          </a:p>
        </p:txBody>
      </p:sp>
      <p:cxnSp>
        <p:nvCxnSpPr>
          <p:cNvPr id="71" name=""/>
          <p:cNvCxnSpPr>
            <a:stCxn xmlns:a="http://schemas.openxmlformats.org/drawingml/2006/main" id="30" idx="3"/>
            <a:endCxn xmlns:a="http://schemas.openxmlformats.org/drawingml/2006/main" id="31" idx="1"/>
          </p:cNvCxnSpPr>
          <p:nvPr/>
        </p:nvCxnSpPr>
        <p:spPr>
          <a:xfrm xmlns:a="http://schemas.openxmlformats.org/drawingml/2006/main">
            <a:off x="4572000" y="578167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cxnSp>
        <p:nvCxnSpPr>
          <p:cNvPr id="72" name=""/>
          <p:cNvCxnSpPr>
            <a:stCxn xmlns:a="http://schemas.openxmlformats.org/drawingml/2006/main" id="31" idx="3"/>
            <a:endCxn xmlns:a="http://schemas.openxmlformats.org/drawingml/2006/main" id="32" idx="1"/>
          </p:cNvCxnSpPr>
          <p:nvPr/>
        </p:nvCxnSpPr>
        <p:spPr>
          <a:xfrm xmlns:a="http://schemas.openxmlformats.org/drawingml/2006/main">
            <a:off x="6781800" y="578167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cxnSp>
        <p:nvCxnSpPr>
          <p:cNvPr id="73" name=""/>
          <p:cNvCxnSpPr>
            <a:stCxn xmlns:a="http://schemas.openxmlformats.org/drawingml/2006/main" id="32" idx="3"/>
            <a:endCxn xmlns:a="http://schemas.openxmlformats.org/drawingml/2006/main" id="33" idx="1"/>
          </p:cNvCxnSpPr>
          <p:nvPr/>
        </p:nvCxnSpPr>
        <p:spPr>
          <a:xfrm xmlns:a="http://schemas.openxmlformats.org/drawingml/2006/main">
            <a:off x="8991600" y="5781675"/>
            <a:ext cx="285750" cy="0"/>
          </a:xfrm>
          <a:prstGeom xmlns:a="http://schemas.openxmlformats.org/drawingml/2006/main" prst="straightConnector1">
            <a:avLst/>
          </a:prstGeom>
          <a:ln xmlns:a="http://schemas.openxmlformats.org/drawingml/2006/main" w="19050">
            <a:solidFill>
              <a:srgbClr val="167C72"/>
            </a:solidFill>
            <a:headEnd type="triangle" w="med" len="med"/>
          </a:ln>
        </p:spPr>
      </p:cxnSp>
      <p:sp>
        <p:nvSpPr>
          <p:cNvPr id="37" name="">
            <a:extLst xmlns:a="http://schemas.openxmlformats.org/drawingml/2006/main">
              <a:ext uri="{FF2B5EF4-FFF2-40B4-BE49-F238E27FC236}">
                <a16:creationId xmlns:a16="http://schemas.microsoft.com/office/drawing/2014/main" id="{DE071DD4-4D78-4E96-97BE-35FE2DDFB665}"/>
              </a:ext>
            </a:extLst>
          </p:cNvPr>
          <p:cNvSpPr>
            <a:spLocks xmlns:a="http://schemas.openxmlformats.org/drawingml/2006/main" noGrp="1"/>
          </p:cNvSpPr>
          <p:nvPr/>
        </p:nvSpPr>
        <p:spPr>
          <a:xfrm xmlns:a="http://schemas.openxmlformats.org/drawingml/2006/main">
            <a:off x="2647950" y="6238875"/>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67C72"/>
                </a:solidFill>
                <a:latin typeface="Helvetica Neue"/>
                <a:ea typeface="Helvetica Neue"/>
                <a:cs typeface="Helvetica Neue"/>
              </a:defRPr>
            </a:pPr>
            <a:r>
              <a:rPr sz="1575" b="0">
                <a:solidFill>
                  <a:srgbClr val="167C72"/>
                </a:solidFill>
                <a:latin typeface="Helvetica Neue"/>
                <a:ea typeface="Helvetica Neue"/>
                <a:cs typeface="Helvetica Neue"/>
              </a:rPr>
              <a:t>Offline evaluation of ranked evidence</a:t>
            </a:r>
          </a:p>
        </p:txBody>
      </p:sp>
    </p:spTree>
    <p:extLst>
      <p:ext uri="{BB962C8B-B14F-4D97-AF65-F5344CB8AC3E}">
        <p14:creationId xmlns:p14="http://schemas.microsoft.com/office/powerpoint/2010/main" val="777610289"/>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8DA085-6E5A-4068-9942-75B210F515B4}"/>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Hybrid retrieval</a:t>
            </a:r>
          </a:p>
        </p:txBody>
      </p:sp>
      <p:sp>
        <p:nvSpPr>
          <p:cNvPr id="2" name="">
            <a:extLst xmlns:a="http://schemas.openxmlformats.org/drawingml/2006/main">
              <a:ext uri="{FF2B5EF4-FFF2-40B4-BE49-F238E27FC236}">
                <a16:creationId xmlns:a16="http://schemas.microsoft.com/office/drawing/2014/main" id="{298F2FEB-2C83-4EA8-BC17-52D6FAA4997E}"/>
              </a:ext>
            </a:extLst>
          </p:cNvPr>
          <p:cNvSpPr>
            <a:spLocks xmlns:a="http://schemas.openxmlformats.org/drawingml/2006/main" noGrp="1"/>
          </p:cNvSpPr>
          <p:nvPr/>
        </p:nvSpPr>
        <p:spPr>
          <a:xfrm xmlns:a="http://schemas.openxmlformats.org/drawingml/2006/main">
            <a:off x="704850" y="2047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67C72"/>
                </a:solidFill>
                <a:latin typeface="Helvetica Neue"/>
                <a:ea typeface="Helvetica Neue"/>
                <a:cs typeface="Helvetica Neue"/>
              </a:defRPr>
            </a:pPr>
            <a:r>
              <a:rPr sz="3675" b="1">
                <a:solidFill>
                  <a:srgbClr val="167C72"/>
                </a:solidFill>
                <a:latin typeface="Helvetica Neue"/>
                <a:ea typeface="Helvetica Neue"/>
                <a:cs typeface="Helvetica Neue"/>
              </a:rPr>
              <a:t>0.4 × semantic + 0.6 × lexical</a:t>
            </a:r>
          </a:p>
        </p:txBody>
      </p:sp>
      <p:sp>
        <p:nvSpPr>
          <p:cNvPr id="3" name="">
            <a:extLst xmlns:a="http://schemas.openxmlformats.org/drawingml/2006/main">
              <a:ext uri="{FF2B5EF4-FFF2-40B4-BE49-F238E27FC236}">
                <a16:creationId xmlns:a16="http://schemas.microsoft.com/office/drawing/2014/main" id="{7329129F-5CFF-4A73-89EF-3C43D7E23F3F}"/>
              </a:ext>
            </a:extLst>
          </p:cNvPr>
          <p:cNvSpPr>
            <a:spLocks xmlns:a="http://schemas.openxmlformats.org/drawingml/2006/main" noGrp="1"/>
          </p:cNvSpPr>
          <p:nvPr/>
        </p:nvSpPr>
        <p:spPr>
          <a:xfrm xmlns:a="http://schemas.openxmlformats.org/drawingml/2006/main">
            <a:off x="704850" y="28860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848"/>
                </a:solidFill>
                <a:latin typeface="Helvetica Neue"/>
                <a:ea typeface="Helvetica Neue"/>
                <a:cs typeface="Helvetica Neue"/>
              </a:defRPr>
            </a:pPr>
            <a:r>
              <a:rPr sz="2850" b="0">
                <a:solidFill>
                  <a:srgbClr val="183848"/>
                </a:solidFill>
                <a:latin typeface="Helvetica Neue"/>
                <a:ea typeface="Helvetica Neue"/>
                <a:cs typeface="Helvetica Neue"/>
              </a:rPr>
              <a:t>+ exact-phrase boost</a:t>
            </a:r>
          </a:p>
        </p:txBody>
      </p:sp>
      <p:sp>
        <p:nvSpPr>
          <p:cNvPr id="4" name="">
            <a:extLst xmlns:a="http://schemas.openxmlformats.org/drawingml/2006/main">
              <a:ext uri="{FF2B5EF4-FFF2-40B4-BE49-F238E27FC236}">
                <a16:creationId xmlns:a16="http://schemas.microsoft.com/office/drawing/2014/main" id="{19D2460F-6269-4D72-9253-25F25699BDC3}"/>
              </a:ext>
            </a:extLst>
          </p:cNvPr>
          <p:cNvSpPr>
            <a:spLocks xmlns:a="http://schemas.openxmlformats.org/drawingml/2006/main" noGrp="1"/>
          </p:cNvSpPr>
          <p:nvPr/>
        </p:nvSpPr>
        <p:spPr>
          <a:xfrm xmlns:a="http://schemas.openxmlformats.org/drawingml/2006/main">
            <a:off x="704850" y="4038600"/>
            <a:ext cx="103822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Semantic similarity captures related wording.</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BM25-style matching preserves financial terminology.</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Separate scores make ranking decisions inspectable.</a:t>
            </a:r>
          </a:p>
        </p:txBody>
      </p:sp>
    </p:spTree>
    <p:extLst>
      <p:ext uri="{BB962C8B-B14F-4D97-AF65-F5344CB8AC3E}">
        <p14:creationId xmlns:p14="http://schemas.microsoft.com/office/powerpoint/2010/main" val="1266815651"/>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934B69-33CF-46E3-AEBE-D4B5A93E8BDF}"/>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A saved answer with a traceable source</a:t>
            </a:r>
          </a:p>
        </p:txBody>
      </p:sp>
      <p:sp>
        <p:nvSpPr>
          <p:cNvPr id="2" name="">
            <a:extLst xmlns:a="http://schemas.openxmlformats.org/drawingml/2006/main">
              <a:ext uri="{FF2B5EF4-FFF2-40B4-BE49-F238E27FC236}">
                <a16:creationId xmlns:a16="http://schemas.microsoft.com/office/drawing/2014/main" id="{682DB9E5-915A-4879-8C96-6552188B12A2}"/>
              </a:ext>
            </a:extLst>
          </p:cNvPr>
          <p:cNvSpPr>
            <a:spLocks xmlns:a="http://schemas.openxmlformats.org/drawingml/2006/main" noGrp="1"/>
          </p:cNvSpPr>
          <p:nvPr/>
        </p:nvSpPr>
        <p:spPr>
          <a:xfrm xmlns:a="http://schemas.openxmlformats.org/drawingml/2006/main">
            <a:off x="704850" y="1752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2"/>
                </a:solidFill>
                <a:latin typeface="Helvetica Neue"/>
                <a:ea typeface="Helvetica Neue"/>
                <a:cs typeface="Helvetica Neue"/>
              </a:defRPr>
            </a:pPr>
            <a:r>
              <a:rPr sz="1800" b="1">
                <a:solidFill>
                  <a:srgbClr val="167C72"/>
                </a:solidFill>
                <a:latin typeface="Helvetica Neue"/>
                <a:ea typeface="Helvetica Neue"/>
                <a:cs typeface="Helvetica Neue"/>
              </a:rPr>
              <a:t>Question</a:t>
            </a:r>
          </a:p>
        </p:txBody>
      </p:sp>
      <p:sp>
        <p:nvSpPr>
          <p:cNvPr id="3" name="">
            <a:extLst xmlns:a="http://schemas.openxmlformats.org/drawingml/2006/main">
              <a:ext uri="{FF2B5EF4-FFF2-40B4-BE49-F238E27FC236}">
                <a16:creationId xmlns:a16="http://schemas.microsoft.com/office/drawing/2014/main" id="{A6CDEA81-0365-41C1-8F66-4FBB6B8D231A}"/>
              </a:ext>
            </a:extLst>
          </p:cNvPr>
          <p:cNvSpPr>
            <a:spLocks xmlns:a="http://schemas.openxmlformats.org/drawingml/2006/main" noGrp="1"/>
          </p:cNvSpPr>
          <p:nvPr/>
        </p:nvSpPr>
        <p:spPr>
          <a:xfrm xmlns:a="http://schemas.openxmlformats.org/drawingml/2006/main">
            <a:off x="704850" y="22098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848"/>
                </a:solidFill>
                <a:latin typeface="Helvetica Neue"/>
                <a:ea typeface="Helvetica Neue"/>
                <a:cs typeface="Helvetica Neue"/>
              </a:defRPr>
            </a:pPr>
            <a:r>
              <a:rPr sz="2550" b="0">
                <a:solidFill>
                  <a:srgbClr val="183848"/>
                </a:solidFill>
                <a:latin typeface="Helvetica Neue"/>
                <a:ea typeface="Helvetica Neue"/>
                <a:cs typeface="Helvetica Neue"/>
              </a:rPr>
              <a:t>What was the major revenue generator in 2025?</a:t>
            </a:r>
          </a:p>
        </p:txBody>
      </p:sp>
      <p:sp>
        <p:nvSpPr>
          <p:cNvPr id="4" name="">
            <a:extLst xmlns:a="http://schemas.openxmlformats.org/drawingml/2006/main">
              <a:ext uri="{FF2B5EF4-FFF2-40B4-BE49-F238E27FC236}">
                <a16:creationId xmlns:a16="http://schemas.microsoft.com/office/drawing/2014/main" id="{7DBE8C18-ECE1-42A8-A987-103A4262E89B}"/>
              </a:ext>
            </a:extLst>
          </p:cNvPr>
          <p:cNvSpPr>
            <a:spLocks xmlns:a="http://schemas.openxmlformats.org/drawingml/2006/main" noGrp="1"/>
          </p:cNvSpPr>
          <p:nvPr/>
        </p:nvSpPr>
        <p:spPr>
          <a:xfrm xmlns:a="http://schemas.openxmlformats.org/drawingml/2006/main">
            <a:off x="70485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23342"/>
                </a:solidFill>
                <a:latin typeface="Helvetica Neue"/>
                <a:ea typeface="Helvetica Neue"/>
                <a:cs typeface="Helvetica Neue"/>
              </a:defRPr>
            </a:pPr>
            <a:r>
              <a:rPr sz="2850" b="1">
                <a:solidFill>
                  <a:srgbClr val="123342"/>
                </a:solidFill>
                <a:latin typeface="Helvetica Neue"/>
                <a:ea typeface="Helvetica Neue"/>
                <a:cs typeface="Helvetica Neue"/>
              </a:rPr>
              <a:t>“Discount revenue, totaling $37.4 billion, was the</a:t>
            </a:r>
          </a:p>
          <a:p xmlns:a="http://schemas.openxmlformats.org/drawingml/2006/main">
            <a:pPr>
              <a:defRPr sz="2850" b="1">
                <a:solidFill>
                  <a:srgbClr val="123342"/>
                </a:solidFill>
                <a:latin typeface="Helvetica Neue"/>
                <a:ea typeface="Helvetica Neue"/>
                <a:cs typeface="Helvetica Neue"/>
              </a:defRPr>
            </a:pPr>
            <a:r>
              <a:rPr sz="2850" b="1">
                <a:solidFill>
                  <a:srgbClr val="123342"/>
                </a:solidFill>
                <a:latin typeface="Helvetica Neue"/>
                <a:ea typeface="Helvetica Neue"/>
                <a:cs typeface="Helvetica Neue"/>
              </a:rPr>
              <a:t>largest revenue generator in 2025.”</a:t>
            </a:r>
          </a:p>
        </p:txBody>
      </p:sp>
      <p:sp>
        <p:nvSpPr>
          <p:cNvPr id="5" name="">
            <a:extLst xmlns:a="http://schemas.openxmlformats.org/drawingml/2006/main">
              <a:ext uri="{FF2B5EF4-FFF2-40B4-BE49-F238E27FC236}">
                <a16:creationId xmlns:a16="http://schemas.microsoft.com/office/drawing/2014/main" id="{915FB18D-6905-4D0E-A178-239EEDDDBD6A}"/>
              </a:ext>
            </a:extLst>
          </p:cNvPr>
          <p:cNvSpPr>
            <a:spLocks xmlns:a="http://schemas.openxmlformats.org/drawingml/2006/main" noGrp="1"/>
          </p:cNvSpPr>
          <p:nvPr/>
        </p:nvSpPr>
        <p:spPr>
          <a:xfrm xmlns:a="http://schemas.openxmlformats.org/drawingml/2006/main">
            <a:off x="704850" y="4676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7C72"/>
                </a:solidFill>
                <a:latin typeface="Helvetica Neue"/>
                <a:ea typeface="Helvetica Neue"/>
                <a:cs typeface="Helvetica Neue"/>
              </a:defRPr>
            </a:pPr>
            <a:r>
              <a:rPr sz="1950" b="0">
                <a:solidFill>
                  <a:srgbClr val="167C72"/>
                </a:solidFill>
                <a:latin typeface="Helvetica Neue"/>
                <a:ea typeface="Helvetica Neue"/>
                <a:cs typeface="Helvetica Neue"/>
              </a:rPr>
              <a:t>[Chunk 127, Page 63]   Retrieved at rank 4</a:t>
            </a:r>
          </a:p>
        </p:txBody>
      </p:sp>
      <p:sp>
        <p:nvSpPr>
          <p:cNvPr id="6" name="">
            <a:extLst xmlns:a="http://schemas.openxmlformats.org/drawingml/2006/main">
              <a:ext uri="{FF2B5EF4-FFF2-40B4-BE49-F238E27FC236}">
                <a16:creationId xmlns:a16="http://schemas.microsoft.com/office/drawing/2014/main" id="{EA3FB96D-4FDA-44CA-870B-67598CAA68A8}"/>
              </a:ext>
            </a:extLst>
          </p:cNvPr>
          <p:cNvSpPr>
            <a:spLocks xmlns:a="http://schemas.openxmlformats.org/drawingml/2006/main" noGrp="1"/>
          </p:cNvSpPr>
          <p:nvPr/>
        </p:nvSpPr>
        <p:spPr>
          <a:xfrm xmlns:a="http://schemas.openxmlformats.org/drawingml/2006/main">
            <a:off x="704850" y="58578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Citation checks validate chunk IDs, not the truth of every claim.</a:t>
            </a:r>
          </a:p>
        </p:txBody>
      </p:sp>
    </p:spTree>
    <p:extLst>
      <p:ext uri="{BB962C8B-B14F-4D97-AF65-F5344CB8AC3E}">
        <p14:creationId xmlns:p14="http://schemas.microsoft.com/office/powerpoint/2010/main" val="451366910"/>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89A6961-423E-4DCA-9B5C-BD66EF50A20B}"/>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Retrieval results and failure cases</a:t>
            </a:r>
          </a:p>
        </p:txBody>
      </p:sp>
      <p:sp>
        <p:nvSpPr>
          <p:cNvPr id="2" name="">
            <a:extLst xmlns:a="http://schemas.openxmlformats.org/drawingml/2006/main">
              <a:ext uri="{FF2B5EF4-FFF2-40B4-BE49-F238E27FC236}">
                <a16:creationId xmlns:a16="http://schemas.microsoft.com/office/drawing/2014/main" id="{5CAC3AD5-F9D7-4A77-BC04-D9AD52226B22}"/>
              </a:ext>
            </a:extLst>
          </p:cNvPr>
          <p:cNvSpPr>
            <a:spLocks xmlns:a="http://schemas.openxmlformats.org/drawingml/2006/main" noGrp="1"/>
          </p:cNvSpPr>
          <p:nvPr/>
        </p:nvSpPr>
        <p:spPr>
          <a:xfrm xmlns:a="http://schemas.openxmlformats.org/drawingml/2006/main">
            <a:off x="704850" y="17335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Saved development run: Recall@5</a:t>
            </a:r>
          </a:p>
        </p:txBody>
      </p:sp>
      <p:sp>
        <p:nvSpPr>
          <p:cNvPr id="3" name="">
            <a:extLst xmlns:a="http://schemas.openxmlformats.org/drawingml/2006/main">
              <a:ext uri="{FF2B5EF4-FFF2-40B4-BE49-F238E27FC236}">
                <a16:creationId xmlns:a16="http://schemas.microsoft.com/office/drawing/2014/main" id="{3F6404A7-DF33-44C6-9EF0-89136C68701A}"/>
              </a:ext>
            </a:extLst>
          </p:cNvPr>
          <p:cNvSpPr>
            <a:spLocks xmlns:a="http://schemas.openxmlformats.org/drawingml/2006/main" noGrp="1"/>
          </p:cNvSpPr>
          <p:nvPr/>
        </p:nvSpPr>
        <p:spPr>
          <a:xfrm xmlns:a="http://schemas.openxmlformats.org/drawingml/2006/main">
            <a:off x="704850" y="242887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Factual</a:t>
            </a:r>
          </a:p>
        </p:txBody>
      </p:sp>
      <p:sp>
        <p:nvSpPr>
          <p:cNvPr id="4" name="">
            <a:extLst xmlns:a="http://schemas.openxmlformats.org/drawingml/2006/main">
              <a:ext uri="{FF2B5EF4-FFF2-40B4-BE49-F238E27FC236}">
                <a16:creationId xmlns:a16="http://schemas.microsoft.com/office/drawing/2014/main" id="{DC69F042-E607-4A1F-9EA1-418DE53C4768}"/>
              </a:ext>
            </a:extLst>
          </p:cNvPr>
          <p:cNvSpPr>
            <a:spLocks xmlns:a="http://schemas.openxmlformats.org/drawingml/2006/main" noGrp="1"/>
          </p:cNvSpPr>
          <p:nvPr/>
        </p:nvSpPr>
        <p:spPr>
          <a:xfrm xmlns:a="http://schemas.openxmlformats.org/drawingml/2006/main">
            <a:off x="7086600" y="242887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B5FBA631-1F6F-4C5D-8378-72FCF164BF6A}"/>
              </a:ext>
            </a:extLst>
          </p:cNvPr>
          <p:cNvSpPr>
            <a:spLocks xmlns:a="http://schemas.openxmlformats.org/drawingml/2006/main" noGrp="1"/>
          </p:cNvSpPr>
          <p:nvPr/>
        </p:nvSpPr>
        <p:spPr>
          <a:xfrm xmlns:a="http://schemas.openxmlformats.org/drawingml/2006/main">
            <a:off x="704850" y="309562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Keyword</a:t>
            </a:r>
          </a:p>
        </p:txBody>
      </p:sp>
      <p:sp>
        <p:nvSpPr>
          <p:cNvPr id="6" name="">
            <a:extLst xmlns:a="http://schemas.openxmlformats.org/drawingml/2006/main">
              <a:ext uri="{FF2B5EF4-FFF2-40B4-BE49-F238E27FC236}">
                <a16:creationId xmlns:a16="http://schemas.microsoft.com/office/drawing/2014/main" id="{43CBE185-D1A6-4263-90AA-02E8EF7337D2}"/>
              </a:ext>
            </a:extLst>
          </p:cNvPr>
          <p:cNvSpPr>
            <a:spLocks xmlns:a="http://schemas.openxmlformats.org/drawingml/2006/main" noGrp="1"/>
          </p:cNvSpPr>
          <p:nvPr/>
        </p:nvSpPr>
        <p:spPr>
          <a:xfrm xmlns:a="http://schemas.openxmlformats.org/drawingml/2006/main">
            <a:off x="7086600" y="309562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80%</a:t>
            </a:r>
          </a:p>
        </p:txBody>
      </p:sp>
      <p:sp>
        <p:nvSpPr>
          <p:cNvPr id="7" name="">
            <a:extLst xmlns:a="http://schemas.openxmlformats.org/drawingml/2006/main">
              <a:ext uri="{FF2B5EF4-FFF2-40B4-BE49-F238E27FC236}">
                <a16:creationId xmlns:a16="http://schemas.microsoft.com/office/drawing/2014/main" id="{9AE3C6DE-4DB2-44B9-B7A5-F47B4A1603F3}"/>
              </a:ext>
            </a:extLst>
          </p:cNvPr>
          <p:cNvSpPr>
            <a:spLocks xmlns:a="http://schemas.openxmlformats.org/drawingml/2006/main" noGrp="1"/>
          </p:cNvSpPr>
          <p:nvPr/>
        </p:nvSpPr>
        <p:spPr>
          <a:xfrm xmlns:a="http://schemas.openxmlformats.org/drawingml/2006/main">
            <a:off x="704850" y="376237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Ambiguous</a:t>
            </a:r>
          </a:p>
        </p:txBody>
      </p:sp>
      <p:sp>
        <p:nvSpPr>
          <p:cNvPr id="8" name="">
            <a:extLst xmlns:a="http://schemas.openxmlformats.org/drawingml/2006/main">
              <a:ext uri="{FF2B5EF4-FFF2-40B4-BE49-F238E27FC236}">
                <a16:creationId xmlns:a16="http://schemas.microsoft.com/office/drawing/2014/main" id="{032AD673-1B89-4A26-844E-C00DFA240F93}"/>
              </a:ext>
            </a:extLst>
          </p:cNvPr>
          <p:cNvSpPr>
            <a:spLocks xmlns:a="http://schemas.openxmlformats.org/drawingml/2006/main" noGrp="1"/>
          </p:cNvSpPr>
          <p:nvPr/>
        </p:nvSpPr>
        <p:spPr>
          <a:xfrm xmlns:a="http://schemas.openxmlformats.org/drawingml/2006/main">
            <a:off x="7086600" y="376237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40%</a:t>
            </a:r>
          </a:p>
        </p:txBody>
      </p:sp>
      <p:sp>
        <p:nvSpPr>
          <p:cNvPr id="9" name="">
            <a:extLst xmlns:a="http://schemas.openxmlformats.org/drawingml/2006/main">
              <a:ext uri="{FF2B5EF4-FFF2-40B4-BE49-F238E27FC236}">
                <a16:creationId xmlns:a16="http://schemas.microsoft.com/office/drawing/2014/main" id="{C0AEAA4F-8816-4F44-BF24-FE7203E178AE}"/>
              </a:ext>
            </a:extLst>
          </p:cNvPr>
          <p:cNvSpPr>
            <a:spLocks xmlns:a="http://schemas.openxmlformats.org/drawingml/2006/main" noGrp="1"/>
          </p:cNvSpPr>
          <p:nvPr/>
        </p:nvSpPr>
        <p:spPr>
          <a:xfrm xmlns:a="http://schemas.openxmlformats.org/drawingml/2006/main">
            <a:off x="704850" y="442912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Multiple chunks</a:t>
            </a:r>
          </a:p>
        </p:txBody>
      </p:sp>
      <p:sp>
        <p:nvSpPr>
          <p:cNvPr id="10" name="">
            <a:extLst xmlns:a="http://schemas.openxmlformats.org/drawingml/2006/main">
              <a:ext uri="{FF2B5EF4-FFF2-40B4-BE49-F238E27FC236}">
                <a16:creationId xmlns:a16="http://schemas.microsoft.com/office/drawing/2014/main" id="{F7CAD2A7-A6B4-4168-8AC8-C9FFCFC5AE01}"/>
              </a:ext>
            </a:extLst>
          </p:cNvPr>
          <p:cNvSpPr>
            <a:spLocks xmlns:a="http://schemas.openxmlformats.org/drawingml/2006/main" noGrp="1"/>
          </p:cNvSpPr>
          <p:nvPr/>
        </p:nvSpPr>
        <p:spPr>
          <a:xfrm xmlns:a="http://schemas.openxmlformats.org/drawingml/2006/main">
            <a:off x="7086600" y="442912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30%</a:t>
            </a:r>
          </a:p>
        </p:txBody>
      </p:sp>
      <p:sp>
        <p:nvSpPr>
          <p:cNvPr id="11" name="">
            <a:extLst xmlns:a="http://schemas.openxmlformats.org/drawingml/2006/main">
              <a:ext uri="{FF2B5EF4-FFF2-40B4-BE49-F238E27FC236}">
                <a16:creationId xmlns:a16="http://schemas.microsoft.com/office/drawing/2014/main" id="{91CF4954-BCBC-41AA-9C12-A831683FA893}"/>
              </a:ext>
            </a:extLst>
          </p:cNvPr>
          <p:cNvSpPr>
            <a:spLocks xmlns:a="http://schemas.openxmlformats.org/drawingml/2006/main" noGrp="1"/>
          </p:cNvSpPr>
          <p:nvPr/>
        </p:nvSpPr>
        <p:spPr>
          <a:xfrm xmlns:a="http://schemas.openxmlformats.org/drawingml/2006/main">
            <a:off x="704850" y="5543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20 questions, 5 per category. Retrieval recall is not answer accuracy.</a:t>
            </a:r>
          </a:p>
        </p:txBody>
      </p:sp>
      <p:sp>
        <p:nvSpPr>
          <p:cNvPr id="12" name="">
            <a:extLst xmlns:a="http://schemas.openxmlformats.org/drawingml/2006/main">
              <a:ext uri="{FF2B5EF4-FFF2-40B4-BE49-F238E27FC236}">
                <a16:creationId xmlns:a16="http://schemas.microsoft.com/office/drawing/2014/main" id="{73D4F4EB-D9B6-4C8B-B64B-0C60FE5C65C2}"/>
              </a:ext>
            </a:extLst>
          </p:cNvPr>
          <p:cNvSpPr>
            <a:spLocks xmlns:a="http://schemas.openxmlformats.org/drawingml/2006/main" noGrp="1"/>
          </p:cNvSpPr>
          <p:nvPr/>
        </p:nvSpPr>
        <p:spPr>
          <a:xfrm xmlns:a="http://schemas.openxmlformats.org/drawingml/2006/main">
            <a:off x="704850" y="59912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Separate 24-question ambiguous run: 35.4% Recall@5.</a:t>
            </a:r>
          </a:p>
        </p:txBody>
      </p:sp>
    </p:spTree>
    <p:extLst>
      <p:ext uri="{BB962C8B-B14F-4D97-AF65-F5344CB8AC3E}">
        <p14:creationId xmlns:p14="http://schemas.microsoft.com/office/powerpoint/2010/main" val="774803710"/>
      </p:ext>
    </p:extLst>
  </p:cSld>
</p:sld>
</file>

<file path=ppt/slides/slide6.xml><?xml version="1.0" encoding="utf-8"?>
<p:sld xmlns:p="http://schemas.openxmlformats.org/presentationml/2006/main">
  <p:cSld>
    <p:bg>
      <p:bgPr>
        <a:solidFill xmlns:a="http://schemas.openxmlformats.org/drawingml/2006/main">
          <a:srgbClr val="1233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5AC8DC-D617-42BE-9810-06BD48895CB1}"/>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Next steps</a:t>
            </a:r>
          </a:p>
        </p:txBody>
      </p:sp>
      <p:sp>
        <p:nvSpPr>
          <p:cNvPr id="2" name="">
            <a:extLst xmlns:a="http://schemas.openxmlformats.org/drawingml/2006/main">
              <a:ext uri="{FF2B5EF4-FFF2-40B4-BE49-F238E27FC236}">
                <a16:creationId xmlns:a16="http://schemas.microsoft.com/office/drawing/2014/main" id="{B437882B-8BFA-48DC-9207-73451B213972}"/>
              </a:ext>
            </a:extLst>
          </p:cNvPr>
          <p:cNvSpPr>
            <a:spLocks xmlns:a="http://schemas.openxmlformats.org/drawingml/2006/main" noGrp="1"/>
          </p:cNvSpPr>
          <p:nvPr/>
        </p:nvSpPr>
        <p:spPr>
          <a:xfrm xmlns:a="http://schemas.openxmlformats.org/drawingml/2006/main">
            <a:off x="704850" y="190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8E1D3"/>
                </a:solidFill>
                <a:latin typeface="Helvetica Neue"/>
                <a:ea typeface="Helvetica Neue"/>
                <a:cs typeface="Helvetica Neue"/>
              </a:defRPr>
            </a:pPr>
            <a:r>
              <a:rPr sz="2400" b="1">
                <a:solidFill>
                  <a:srgbClr val="A8E1D3"/>
                </a:solidFill>
                <a:latin typeface="Helvetica Neue"/>
                <a:ea typeface="Helvetica Neue"/>
                <a:cs typeface="Helvetica Neue"/>
              </a:rPr>
              <a:t>Better evidence before broader deployment</a:t>
            </a:r>
          </a:p>
        </p:txBody>
      </p:sp>
      <p:sp>
        <p:nvSpPr>
          <p:cNvPr id="3" name="">
            <a:extLst xmlns:a="http://schemas.openxmlformats.org/drawingml/2006/main">
              <a:ext uri="{FF2B5EF4-FFF2-40B4-BE49-F238E27FC236}">
                <a16:creationId xmlns:a16="http://schemas.microsoft.com/office/drawing/2014/main" id="{5F474A43-CC77-4A93-8FCA-259BAA1BAFFA}"/>
              </a:ext>
            </a:extLst>
          </p:cNvPr>
          <p:cNvSpPr>
            <a:spLocks xmlns:a="http://schemas.openxmlformats.org/drawingml/2006/main" noGrp="1"/>
          </p:cNvSpPr>
          <p:nvPr/>
        </p:nvSpPr>
        <p:spPr>
          <a:xfrm xmlns:a="http://schemas.openxmlformats.org/drawingml/2006/main">
            <a:off x="704850" y="2943225"/>
            <a:ext cx="104775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Compare retrieval baselines and test reranking</a:t>
            </a:r>
          </a:p>
          <a:p xmlns:a="http://schemas.openxmlformats.org/drawingml/2006/main">
            <a:r>
              <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Audit section metadata and multi-chunk coverage</a:t>
            </a:r>
          </a:p>
          <a:p xmlns:a="http://schemas.openxmlformats.org/drawingml/2006/main">
            <a:r>
              <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Evaluate claim support and abstention quality</a:t>
            </a:r>
          </a:p>
        </p:txBody>
      </p:sp>
      <p:sp>
        <p:nvSpPr>
          <p:cNvPr id="4" name="">
            <a:extLst xmlns:a="http://schemas.openxmlformats.org/drawingml/2006/main">
              <a:ext uri="{FF2B5EF4-FFF2-40B4-BE49-F238E27FC236}">
                <a16:creationId xmlns:a16="http://schemas.microsoft.com/office/drawing/2014/main" id="{6A0A6356-5C8C-4D8D-89A7-CCDA220D9141}"/>
              </a:ext>
            </a:extLst>
          </p:cNvPr>
          <p:cNvSpPr>
            <a:spLocks xmlns:a="http://schemas.openxmlformats.org/drawingml/2006/main" noGrp="1"/>
          </p:cNvSpPr>
          <p:nvPr/>
        </p:nvSpPr>
        <p:spPr>
          <a:xfrm xmlns:a="http://schemas.openxmlformats.org/drawingml/2006/main">
            <a:off x="704850" y="58769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8E1D3"/>
                </a:solidFill>
                <a:latin typeface="Helvetica Neue"/>
                <a:ea typeface="Helvetica Neue"/>
                <a:cs typeface="Helvetica Neue"/>
              </a:defRPr>
            </a:pPr>
            <a:r>
              <a:rPr sz="1950" b="0">
                <a:solidFill>
                  <a:srgbClr val="A8E1D3"/>
                </a:solidFill>
                <a:latin typeface="Helvetica Neue"/>
                <a:ea typeface="Helvetica Neue"/>
                <a:cs typeface="Helvetica Neue"/>
              </a:rPr>
              <a:t>A working pipeline with measurable retrieval gaps</a:t>
            </a:r>
          </a:p>
        </p:txBody>
      </p:sp>
    </p:spTree>
    <p:extLst>
      <p:ext uri="{BB962C8B-B14F-4D97-AF65-F5344CB8AC3E}">
        <p14:creationId xmlns:p14="http://schemas.microsoft.com/office/powerpoint/2010/main" val="10470200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2026-09-19T18:17:12.3370000Z</dcterms:created>
  <dcterms:modified xsi:type="dcterms:W3CDTF">2026-09-19T18:17:12.3370000Z</dcterms:modified>
</coreProperties>
</file>